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Good morning respected jury members. We are presenting CROWDGUARD X for Problem Statement IS-15. Traditional systems monitor crowds after congestion has already formed. CROWDGUARD X is a software-first simulation platform that allows commanders to test interventions - like closing a gate or deploying marshals - in a live Digital Twin BEFORE applying them on the ground. We have a working prototype ready to demonstrate.</a:t>
            </a:r>
          </a:p>
          <a:p/>
          <a:p>
            <a:r>
              <a:t>=== ANTICIPATED JURY Q&amp;A ===</a:t>
            </a:r>
          </a:p>
          <a:p>
            <a:r>
              <a:t>Q: Is this an actual working product or a design concept?</a:t>
            </a:r>
          </a:p>
          <a:p>
            <a:r>
              <a:t>A: It is an active working prototype built with React 19, TypeScript, and HTML5 Canvas running a 60 FPS pedestrian Social Force physics engine.</a:t>
            </a:r>
          </a:p>
          <a:p>
            <a:r>
              <a:t>Q: Does it have physical sensors attached?</a:t>
            </a:r>
          </a:p>
          <a:p>
            <a:r>
              <a:t>A: No. The current phase is Software-First. Physical IoT sensors and computer vision feeds are strictly in our future scope roadmap.</a:t>
            </a:r>
          </a:p>
          <a:p/>
          <a:p>
            <a:r>
              <a:t>=== TECHNICAL TALKING POINTS ===</a:t>
            </a:r>
          </a:p>
          <a:p>
            <a:r>
              <a:t>Emphasize the core thesis: Traditional monitoring is reactive; simulation is proactive. Keep tone professional, technical, and confident.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the core problem: In large public gatherings, crowd disasters are not caused by 'crazy panic' - they are caused by fluid mechanics. When arrival rates exceed geometric corridor width, people pack to 5 people per square meter. At that point, people cannot move independently and shockwaves propagate. Current monitoring just watches people get stuck. CROWDGUARD X shifts us from watching to simulating solutions before panic starts.</a:t>
            </a:r>
          </a:p>
          <a:p/>
          <a:p>
            <a:r>
              <a:t>=== ANTICIPATED JURY Q&amp;A ===</a:t>
            </a:r>
          </a:p>
          <a:p>
            <a:r>
              <a:t>Q: Why don't existing CCTV setups solve this?</a:t>
            </a:r>
          </a:p>
          <a:p>
            <a:r>
              <a:t>A: CCTV is fundamentally reactive. By the time a screen operator notices a crush, physical pressure is already dangerous. Furthermore, CCTV cannot tell an operator: 'If you close Gate 2, where will those 5,000 people go?' Our simulation answers that question instantly.</a:t>
            </a:r>
          </a:p>
          <a:p/>
          <a:p>
            <a:r>
              <a:t>=== TECHNICAL TALKING POINTS ===</a:t>
            </a:r>
          </a:p>
          <a:p>
            <a:r>
              <a:t>Highlight that we cite verified crowd physics (fluid shockwaves and geometric bottlenecks) rather than fake disaster statistics.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the architectural core of CROWDGUARD X: We take static venue data, build an interactive Digital Twin, spawn agents following fluid physics, analyze risk, and give the operator an interactive What-If sandbox. Instead of guessing, the operator can see: 'What happens if we divert Gate 2 to Gate 3?' and get instant quantitative validation.</a:t>
            </a:r>
          </a:p>
          <a:p/>
          <a:p>
            <a:r>
              <a:t>=== ANTICIPATED JURY Q&amp;A ===</a:t>
            </a:r>
          </a:p>
          <a:p>
            <a:r>
              <a:t>Q: What is the main difference between your solution and existing crowd simulation software?</a:t>
            </a:r>
          </a:p>
          <a:p>
            <a:r>
              <a:t>A: Traditional software like AnyLogic is offline, complex, and used months prior for civil engineering planning. CROWDGUARD X is designed as a live, low-latency operational command platform for active event day decision support.</a:t>
            </a:r>
          </a:p>
          <a:p/>
          <a:p>
            <a:r>
              <a:t>=== TECHNICAL TALKING POINTS ===</a:t>
            </a:r>
          </a:p>
          <a:p>
            <a:r>
              <a:t>Emphasize the 7-stage pipeline. Point out that all 7 stages are connected and working in the current prototype.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This slide is very important: it demonstrates our deterministic 10-step pipeline. The top row (Steps 1 to 5) runs continuously as the baseline simulation loop. When the system detects a bottleneck in Step 6, the operator triggers the What-If Sandbox in Step 7. The physics recalculates instantaneously in Step 8, evaluates the Before vs After delta in Step 9, and outputs actionable instructions in Step 10.</a:t>
            </a:r>
          </a:p>
          <a:p/>
          <a:p>
            <a:r>
              <a:t>=== ANTICIPATED JURY Q&amp;A ===</a:t>
            </a:r>
          </a:p>
          <a:p>
            <a:r>
              <a:t>Q: How fast does the What-If simulation recalculate?</a:t>
            </a:r>
          </a:p>
          <a:p>
            <a:r>
              <a:t>A: In less than 50 milliseconds on the client side, because the routing vectors and Social Force physics run in-memory within our optimized TypeScript engine.</a:t>
            </a:r>
          </a:p>
          <a:p>
            <a:r>
              <a:t>Q: Can an untrained operator use this?</a:t>
            </a:r>
          </a:p>
          <a:p>
            <a:r>
              <a:t>A: Yes, because the output is not raw code - it provides clear visual color changes and explicit advisories.</a:t>
            </a:r>
          </a:p>
          <a:p/>
          <a:p>
            <a:r>
              <a:t>=== TECHNICAL TALKING POINTS ===</a:t>
            </a:r>
          </a:p>
          <a:p>
            <a:r>
              <a:t>Walk through Steps 1 to 10 methodically. Mention that this pipeline is what powers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our system architecture. We have cleanly divided it into three tiers: Presentation UI, Application Physics Engines, and the State Layer. Most importantly, we want to be 100% honest with the jury: In our current prototype, this runs as a software-first in-memory reactive architecture. This provides zero-latency 60 FPS simulations. Real CCTV camera models and cloud telemetry databases are explicitly part of our future scope.</a:t>
            </a:r>
          </a:p>
          <a:p/>
          <a:p>
            <a:r>
              <a:t>=== ANTICIPATED JURY Q&amp;A ===</a:t>
            </a:r>
          </a:p>
          <a:p>
            <a:r>
              <a:t>Q: Why didn't you use a Python backend with PyTorch?</a:t>
            </a:r>
          </a:p>
          <a:p>
            <a:r>
              <a:t>A: For real-time 60 FPS agent physics with interactive drag-and-drop What-If simulation, round-trip HTTP or WebSocket latency to a remote server would lag the interface. Running the simulation in compiled TypeScript on the client provides instant 50ms policy recalculation.</a:t>
            </a:r>
          </a:p>
          <a:p/>
          <a:p>
            <a:r>
              <a:t>=== TECHNICAL TALKING POINTS ===</a:t>
            </a:r>
          </a:p>
          <a:p>
            <a:r>
              <a:t>Highlight the separation between Current Working Prototype and Future AI/IoT extensions. Juries appreciate engineering honesty over inflated claims.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Every single library listed on this slide comes directly from our package.json file. We use React 19, TypeScript, Vite, Tailwind CSS v4, HTML5 Canvas, and Recharts. We have deliberately NOT claimed to have PyTorch, OpenCV, or cloud databases running in this prototype. Our prototype is software-first, focusing on client-side simulation physics to provide zero-latency What-If decision support.</a:t>
            </a:r>
          </a:p>
          <a:p/>
          <a:p>
            <a:r>
              <a:t>=== ANTICIPATED JURY Q&amp;A ===</a:t>
            </a:r>
          </a:p>
          <a:p>
            <a:r>
              <a:t>Q: Why is your tech stack purely frontend?</a:t>
            </a:r>
          </a:p>
          <a:p>
            <a:r>
              <a:t>A: Because crowd simulation in an emergency command center requires instantaneous responsiveness. A client-side canvas engine running at 60 FPS lets the operator slide the inflow rate or close a gate and see the ripple effect immediately with zero network latency.</a:t>
            </a:r>
          </a:p>
          <a:p/>
          <a:p>
            <a:r>
              <a:t>=== TECHNICAL TALKING POINTS ===</a:t>
            </a:r>
          </a:p>
          <a:p>
            <a:r>
              <a:t>Point to the fourth column ('Honesty &amp; Scope Distinction'). Juries respect teams that know exactly what their software is and do not exaggerate.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how the Digital Twin works in CROWDGUARD X. A digital twin is not just a 3D picture - it is a computational graph of the venue. We break the venue into zones with specific square footage capacities and connect them with gate portals. For our primary demonstration, we modeled the Kashi Vishwanath Temple corridor in Varanasi, where Zone B (the Sanctum) serves as the primary bottleneck.</a:t>
            </a:r>
          </a:p>
          <a:p/>
          <a:p>
            <a:r>
              <a:t>=== ANTICIPATED JURY Q&amp;A ===</a:t>
            </a:r>
          </a:p>
          <a:p>
            <a:r>
              <a:t>Q: How do you build a digital twin for a new venue?</a:t>
            </a:r>
          </a:p>
          <a:p>
            <a:r>
              <a:t>A: We define the zone rectangles, gate coordinates, and corridor waypoints in a JSON configuration file. Our simulation engine parses these parameters and renders the interactive physics model instantly.</a:t>
            </a:r>
          </a:p>
          <a:p/>
          <a:p>
            <a:r>
              <a:t>=== TECHNICAL TALKING POINTS ===</a:t>
            </a:r>
          </a:p>
          <a:p>
            <a:r>
              <a:t>Point to the zone metrics on the right. Note how Zone B is flagged at 88% density, which triggers the What-If mitigation in our live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How do we calculate crowd density and risk? We use three physical factors: Capacity utilization ratio, flow velocity drop, and gate inflow versus outflow imbalance. In Helbing fluid dynamics, as density climbs, pedestrian speed drops from 1.2 meters per second down to 0.38 m/s, causing dangerous compression. Crucially, we want to state that our current prototype uses deterministic simulation and rule-based logic; ML-based prediction is part of our future roadmap.</a:t>
            </a:r>
          </a:p>
          <a:p/>
          <a:p>
            <a:r>
              <a:t>=== ANTICIPATED JURY Q&amp;A ===</a:t>
            </a:r>
          </a:p>
          <a:p>
            <a:r>
              <a:t>Q: Why not use a neural network right now for risk calculation?</a:t>
            </a:r>
          </a:p>
          <a:p>
            <a:r>
              <a:t>A: In safety-critical emergency systems, explainability is paramount. An incident commander needs to know exactly why an alert fired (e.g., 'Zone B capacity &gt;80% and flow speed &lt;0.4 m/s'), rather than trusting an unexplainable black-box model.</a:t>
            </a:r>
          </a:p>
          <a:p/>
          <a:p>
            <a:r>
              <a:t>=== TECHNICAL TALKING POINTS ===</a:t>
            </a:r>
          </a:p>
          <a:p>
            <a:r>
              <a:t>Highlight the formula and emphasize the transparency regarding current rule-based physics versus future 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This is our most powerful slide: The What-If Simulation Sandbox. In our Kashi Temple model, Gate G2 was causing an 88% critical density crush in Zone B. Instead of ordering police to close gates blindly, the commander enters the What-If Sandbox. They test closing Gate G2, diverting flow to Gate G3, and deploying 12 marshals. Within 50 milliseconds, the dual-engine proves: Zone B density drops by 24%, flow velocity jumps from 0.38 m/s to 1.24 m/s, and risk drops from High to Low.</a:t>
            </a:r>
          </a:p>
          <a:p/>
          <a:p>
            <a:r>
              <a:t>=== ANTICIPATED JURY Q&amp;A ===</a:t>
            </a:r>
          </a:p>
          <a:p>
            <a:r>
              <a:t>Q: Are these numbers static or dynamically calculated?</a:t>
            </a:r>
          </a:p>
          <a:p>
            <a:r>
              <a:t>A: They are dynamically calculated in real time by our SimulationEngine. When Gate G2 is closed in the UI, agents are dynamically rerouted, and the zone density counters update live at 60 FPS.</a:t>
            </a:r>
          </a:p>
          <a:p/>
          <a:p>
            <a:r>
              <a:t>=== TECHNICAL TALKING POINTS ===</a:t>
            </a:r>
          </a:p>
          <a:p>
            <a:r>
              <a:t>Point to the four KPI cards (Density -24%, Flow Velocity +31%). This proves that our simulation provides measurable decision support.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how route intelligence works in CROWDGUARD X. Our engine maintains waypoint networks for all primary corridors. When a gate is closed, the system does not magically teleport people. Instead, agents who have not yet reached the choke point (Y &lt; 120) have their waypoint array dynamically swapped to the East Bypass connector. Also notice our technical terminology: We call it a 'Lower Simulated Risk' route, not an absolute 'guaranteed safest' route, respecting real-world operational realities.</a:t>
            </a:r>
          </a:p>
          <a:p/>
          <a:p>
            <a:r>
              <a:t>=== ANTICIPATED JURY Q&amp;A ===</a:t>
            </a:r>
          </a:p>
          <a:p>
            <a:r>
              <a:t>Q: How do you prevent the alternative route from also choking?</a:t>
            </a:r>
          </a:p>
          <a:p>
            <a:r>
              <a:t>A: That is precisely why our What-If simulation recalculates all zones concurrently. If the bypass corridor begins approaching 75% capacity, the system throttles Gate G1 as well to prevent cascade congestion.</a:t>
            </a:r>
          </a:p>
          <a:p/>
          <a:p>
            <a:r>
              <a:t>=== TECHNICAL TALKING POINTS ===</a:t>
            </a:r>
          </a:p>
          <a:p>
            <a:r>
              <a:t>Emphasize the waypoint rerouting mechanism and the honest terminology.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Here is the actual interface of CROWDGUARD X as running on our system. We designed this unified command center specifically for high-stress event control rooms. It combines five modules: The Incident Header, the 60 FPS Digital Twin Canvas, the Predictive Horizons Recharts panel, the What-If sandbox, and the AI Copilot advisory banner. Notice how everything is dark-themed with high contrast so critical red alerts are impossible to miss.</a:t>
            </a:r>
          </a:p>
          <a:p/>
          <a:p>
            <a:r>
              <a:t>=== ANTICIPATED JURY Q&amp;A ===</a:t>
            </a:r>
          </a:p>
          <a:p>
            <a:r>
              <a:t>Q: Why did you put the What-If sandbox right next to the live canvas?</a:t>
            </a:r>
          </a:p>
          <a:p>
            <a:r>
              <a:t>A: Because an incident commander under pressure cannot switch through 5 different screens. Having the simulation controls directly adjacent to the Digital Twin lets them toggle Gate G2 and see the agents turn east in real time.</a:t>
            </a:r>
          </a:p>
          <a:p/>
          <a:p>
            <a:r>
              <a:t>=== TECHNICAL TALKING POINTS ===</a:t>
            </a:r>
          </a:p>
          <a:p>
            <a:r>
              <a:t>Show the jury that this is not a mock-up - it is an actual screenshot of the running React/TypeScript prototype.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A common jury question is: 'Does this only work for temples?' Absolutely not. Our simulation engine is completely venue-agnostic. In venues.ts, we already have four distinct archetypes pre-configured: The Kashi Temple heritage corridor, Bhopal Junction railway station with foot-over-bridge bottlenecks, Grand Stadium for sports egress, and Horizon Open-Air Festival for concerts. Switching venues is instant in our UI.</a:t>
            </a:r>
          </a:p>
          <a:p/>
          <a:p>
            <a:r>
              <a:t>=== ANTICIPATED JURY Q&amp;A ===</a:t>
            </a:r>
          </a:p>
          <a:p>
            <a:r>
              <a:t>Q: How difficult is it to configure a new venue?</a:t>
            </a:r>
          </a:p>
          <a:p>
            <a:r>
              <a:t>A: It takes less than 15 minutes to configure a new venue. You define the zone bounding boxes, gate throughput rates, and corridor waypoints in a JSON file. The physics engine handles the rest automatically.</a:t>
            </a:r>
          </a:p>
          <a:p/>
          <a:p>
            <a:r>
              <a:t>=== TECHNICAL TALKING POINTS ===</a:t>
            </a:r>
          </a:p>
          <a:p>
            <a:r>
              <a:t>Emphasize the universal physics engine and the 4 pre-configured venues in the prototype.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This slide represents our engineering maturity and honesty. We clearly divide what works today from what is planned for tomorrow. Everything in the green column - the interactive UI, the 60 FPS canvas, the Social Force physics, the What-If sandbox, the dual-engine analyzer - is functioning right now in our codebase. Everything in the yellow column - edge CCTV models, hardware IoT turnstiles, and government dispatch APIs - is part of our engineering roadmap. We do not claim what we have not built.</a:t>
            </a:r>
          </a:p>
          <a:p/>
          <a:p>
            <a:r>
              <a:t>=== ANTICIPATED JURY Q&amp;A ===</a:t>
            </a:r>
          </a:p>
          <a:p>
            <a:r>
              <a:t>Q: Why didn't you hook up a webcam for YOLO detection?</a:t>
            </a:r>
          </a:p>
          <a:p>
            <a:r>
              <a:t>A: In a hackathon demo, a single webcam in a room does not represent a 150,000-person pilgrimage crowd. Building a verified, responsive software simulation engine was the highest-priority architectural foundation.</a:t>
            </a:r>
          </a:p>
          <a:p/>
          <a:p>
            <a:r>
              <a:t>=== TECHNICAL TALKING POINTS ===</a:t>
            </a:r>
          </a:p>
          <a:p>
            <a:r>
              <a:t>Highlight the transparency pledge. Juries appreciate authentic engineering rigor.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Who can use CROWDGUARD X? Four primary groups: Pilgrimage boards like Kashi Vishwanath and Tirupati, transit authorities like Indian Railways managing foot over bridges, stadium and concert organizers, and municipal police disaster cells. Our core value proposition is zero-risk intervention testing. We do not claim our software 'eliminates all human error,' but it gives commanders a 15-minute lead time by testing solutions virtually before ordering barricades moved.</a:t>
            </a:r>
          </a:p>
          <a:p/>
          <a:p>
            <a:r>
              <a:t>=== ANTICIPATED JURY Q&amp;A ===</a:t>
            </a:r>
          </a:p>
          <a:p>
            <a:r>
              <a:t>Q: Would on-ground police actually use this?</a:t>
            </a:r>
          </a:p>
          <a:p>
            <a:r>
              <a:t>A: Yes, because during a crowd crisis, police commanders currently rely on radio shouts and gut feeling. Having an interactive screen showing that closing Gate 2 will redirect 5,000 people safely along the East corridor gives them concrete confidence.</a:t>
            </a:r>
          </a:p>
          <a:p/>
          <a:p>
            <a:r>
              <a:t>=== TECHNICAL TALKING POINTS ===</a:t>
            </a:r>
          </a:p>
          <a:p>
            <a:r>
              <a:t>Emphasize the human-in-the-loop philosophy. The system aids commanders; it does not replace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30-SECOND JURY PITCH ===</a:t>
            </a:r>
          </a:p>
          <a:p>
            <a:r>
              <a:t>Respected jury members, to conclude: We do not just have slides - we have an active working prototype ready to demonstrate. In less than 3 minutes, we can walk you through the Kashi Temple scenario, identify the Zone B bottleneck at 88% density, toggle our What-If mitigations, show the 24% density drop in the dual-engine comparator, and switch to Bhopal Junction to demonstrate scalability. As our tagline says: 'Predict. Simulate. Prevent.' Thank you, and we welcome your questions.</a:t>
            </a:r>
          </a:p>
          <a:p/>
          <a:p>
            <a:r>
              <a:t>=== ANTICIPATED JURY Q&amp;A ===</a:t>
            </a:r>
          </a:p>
          <a:p>
            <a:r>
              <a:t>Q: Can we see the live demo now?</a:t>
            </a:r>
          </a:p>
          <a:p>
            <a:r>
              <a:t>A: Yes, absolutely! We have the prototype running right here on localhost. We are excited to walk you through the exact 6-step flow.</a:t>
            </a:r>
          </a:p>
          <a:p/>
          <a:p>
            <a:r>
              <a:t>=== TECHNICAL TALKING POINTS ===</a:t>
            </a:r>
          </a:p>
          <a:p>
            <a:r>
              <a:t>Deliver the closing tagline with confidence. Transition immediately to the live prototype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41C2C"/>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97280"/>
            <a:ext cx="5669280" cy="320040"/>
          </a:xfrm>
          <a:prstGeom prst="roundRect">
            <a:avLst/>
          </a:prstGeom>
          <a:solidFill>
            <a:srgbClr val="0F1E30"/>
          </a:solidFill>
          <a:ln>
            <a:solidFill>
              <a:srgbClr val="0F1E3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8BDF8"/>
                </a:solidFill>
                <a:latin typeface="Consolas"/>
              </a:defRPr>
            </a:pPr>
            <a:r>
              <a:t>SISTEC INNOVATION HACKATHON 4.0  -  PROBLEM STATEMENT: IS-15</a:t>
            </a:r>
          </a:p>
        </p:txBody>
      </p:sp>
      <p:sp>
        <p:nvSpPr>
          <p:cNvPr id="5" name="Rounded Rectangle 4"/>
          <p:cNvSpPr/>
          <p:nvPr/>
        </p:nvSpPr>
        <p:spPr>
          <a:xfrm>
            <a:off x="7040880" y="1097280"/>
            <a:ext cx="3931920" cy="320040"/>
          </a:xfrm>
          <a:prstGeom prst="roundRect">
            <a:avLst/>
          </a:prstGeom>
          <a:solidFill>
            <a:srgbClr val="0E241C"/>
          </a:solidFill>
          <a:ln>
            <a:solidFill>
              <a:srgbClr val="0E24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4D399"/>
                </a:solidFill>
                <a:latin typeface="Consolas"/>
              </a:defRPr>
            </a:pPr>
            <a:r>
              <a:t>FIRST-ROUND JURY TECHNICAL EVALUATION</a:t>
            </a:r>
          </a:p>
        </p:txBody>
      </p:sp>
      <p:sp>
        <p:nvSpPr>
          <p:cNvPr id="6" name="TextBox 5"/>
          <p:cNvSpPr txBox="1"/>
          <p:nvPr/>
        </p:nvSpPr>
        <p:spPr>
          <a:xfrm>
            <a:off x="1188720" y="1645920"/>
            <a:ext cx="9784080" cy="2011680"/>
          </a:xfrm>
          <a:prstGeom prst="rect">
            <a:avLst/>
          </a:prstGeom>
          <a:noFill/>
        </p:spPr>
        <p:txBody>
          <a:bodyPr wrap="square">
            <a:spAutoFit/>
          </a:bodyPr>
          <a:lstStyle/>
          <a:p>
            <a:pPr>
              <a:spcAft>
                <a:spcPts val="400"/>
              </a:spcAft>
              <a:defRPr sz="4400" b="1">
                <a:solidFill>
                  <a:srgbClr val="F8FAFC"/>
                </a:solidFill>
                <a:latin typeface="Segoe UI"/>
              </a:defRPr>
            </a:pPr>
            <a:r>
              <a:t>CROWDGUARD X</a:t>
            </a:r>
          </a:p>
          <a:p>
            <a:pPr>
              <a:spcAft>
                <a:spcPts val="800"/>
              </a:spcAft>
              <a:defRPr sz="1800" b="1">
                <a:solidFill>
                  <a:srgbClr val="38BDF8"/>
                </a:solidFill>
                <a:latin typeface="Segoe UI"/>
              </a:defRPr>
            </a:pPr>
            <a:r>
              <a:t>AI-Powered Crowd Mobility Simulation &amp; Management Platform</a:t>
            </a:r>
          </a:p>
          <a:p>
            <a:pPr>
              <a:defRPr sz="1400" i="1">
                <a:solidFill>
                  <a:srgbClr val="34D399"/>
                </a:solidFill>
                <a:latin typeface="Segoe UI"/>
              </a:defRPr>
            </a:pPr>
            <a:r>
              <a:t>"Predict. Simulate. Prevent."</a:t>
            </a:r>
          </a:p>
        </p:txBody>
      </p:sp>
      <p:sp>
        <p:nvSpPr>
          <p:cNvPr id="7" name="Rounded Rectangle 6"/>
          <p:cNvSpPr/>
          <p:nvPr/>
        </p:nvSpPr>
        <p:spPr>
          <a:xfrm>
            <a:off x="1188720" y="3840480"/>
            <a:ext cx="9814255" cy="192024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977639"/>
            <a:ext cx="9418320" cy="1645920"/>
          </a:xfrm>
          <a:prstGeom prst="rect">
            <a:avLst/>
          </a:prstGeom>
          <a:noFill/>
        </p:spPr>
        <p:txBody>
          <a:bodyPr wrap="square">
            <a:spAutoFit/>
          </a:bodyPr>
          <a:lstStyle/>
          <a:p>
            <a:pPr>
              <a:spcAft>
                <a:spcPts val="600"/>
              </a:spcAft>
              <a:defRPr sz="1000" b="1">
                <a:solidFill>
                  <a:srgbClr val="FBBF24"/>
                </a:solidFill>
                <a:latin typeface="Consolas"/>
              </a:defRPr>
            </a:pPr>
            <a:r>
              <a:t>EXECUTIVE TECHNICAL SUMMARY</a:t>
            </a:r>
          </a:p>
          <a:p>
            <a:pPr>
              <a:spcAft>
                <a:spcPts val="300"/>
              </a:spcAft>
            </a:pPr>
            <a:r>
              <a:rPr b="1" sz="1050">
                <a:solidFill>
                  <a:srgbClr val="F8FAFC"/>
                </a:solidFill>
              </a:rPr>
              <a:t>• Software-First Architecture: </a:t>
            </a:r>
            <a:r>
              <a:rPr sz="1050">
                <a:solidFill>
                  <a:srgbClr val="94A3B8"/>
                </a:solidFill>
              </a:rPr>
              <a:t>Fully functioning client-side simulation engine modeling real pedestrian fluid mechanics (Helbing Social Force).</a:t>
            </a:r>
          </a:p>
          <a:p>
            <a:pPr>
              <a:spcAft>
                <a:spcPts val="300"/>
              </a:spcAft>
            </a:pPr>
            <a:r>
              <a:rPr b="1" sz="1050">
                <a:solidFill>
                  <a:srgbClr val="F8FAFC"/>
                </a:solidFill>
              </a:rPr>
              <a:t>• Active Decision Support: </a:t>
            </a:r>
            <a:r>
              <a:rPr sz="1050">
                <a:solidFill>
                  <a:srgbClr val="94A3B8"/>
                </a:solidFill>
              </a:rPr>
              <a:t>Bypasses passive CCTV delay by stress-testing gate closures, marshal dispatch, and diversions virtually.</a:t>
            </a:r>
          </a:p>
          <a:p>
            <a:pPr>
              <a:spcAft>
                <a:spcPts val="300"/>
              </a:spcAft>
            </a:pPr>
            <a:r>
              <a:rPr b="1" sz="1050">
                <a:solidFill>
                  <a:srgbClr val="F8FAFC"/>
                </a:solidFill>
              </a:rPr>
              <a:t>• Multi-Venue Scalability: </a:t>
            </a:r>
            <a:r>
              <a:rPr sz="1050">
                <a:solidFill>
                  <a:srgbClr val="94A3B8"/>
                </a:solidFill>
              </a:rPr>
              <a:t>Configured models for pilgrimage temples, high-density railway junctions, mega stadiums, and cultural festivals.</a:t>
            </a:r>
          </a:p>
          <a:p>
            <a:pPr>
              <a:spcAft>
                <a:spcPts val="300"/>
              </a:spcAft>
            </a:pPr>
            <a:r>
              <a:rPr b="1" sz="1050">
                <a:solidFill>
                  <a:srgbClr val="F8FAFC"/>
                </a:solidFill>
              </a:rPr>
              <a:t>• Strict Engineering Integrity: </a:t>
            </a:r>
            <a:r>
              <a:rPr sz="1050">
                <a:solidFill>
                  <a:srgbClr val="94A3B8"/>
                </a:solidFill>
              </a:rPr>
              <a:t>No hallucinated sensors or remote databases; transparent distinction between prototype and future roadmap.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PROBLEM STATEMENT | CHALLENGE IS-15</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The Physics of Crowd Disasters: Why Monitoring Fails</a:t>
            </a:r>
          </a:p>
          <a:p>
            <a:pPr>
              <a:defRPr sz="1100">
                <a:solidFill>
                  <a:srgbClr val="94A3B8"/>
                </a:solidFill>
                <a:latin typeface="Segoe UI"/>
              </a:defRPr>
            </a:pPr>
            <a:r>
              <a:t>Traditional systems detect congestion only after it occurs; prevention requires predictive simulation.</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664208" cy="128016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28800"/>
            <a:ext cx="1517904" cy="1097280"/>
          </a:xfrm>
          <a:prstGeom prst="rect">
            <a:avLst/>
          </a:prstGeom>
          <a:noFill/>
        </p:spPr>
        <p:txBody>
          <a:bodyPr wrap="square" lIns="0" tIns="0" rIns="0" bIns="0">
            <a:spAutoFit/>
          </a:bodyPr>
          <a:lstStyle/>
          <a:p>
            <a:pPr>
              <a:spcAft>
                <a:spcPts val="400"/>
              </a:spcAft>
              <a:defRPr sz="1100" b="1">
                <a:solidFill>
                  <a:srgbClr val="38BDF8"/>
                </a:solidFill>
                <a:latin typeface="Segoe UI"/>
              </a:defRPr>
            </a:pPr>
            <a:r>
              <a:t>1. Mass Inflow</a:t>
            </a:r>
          </a:p>
          <a:p>
            <a:pPr>
              <a:defRPr sz="950">
                <a:solidFill>
                  <a:srgbClr val="94A3B8"/>
                </a:solidFill>
                <a:latin typeface="Segoe UI"/>
              </a:defRPr>
            </a:pPr>
            <a:r>
              <a:t>Surge arrivals enter restricted venue perimeter</a:t>
            </a:r>
          </a:p>
        </p:txBody>
      </p:sp>
      <p:sp>
        <p:nvSpPr>
          <p:cNvPr id="8" name="Rounded Rectangle 7"/>
          <p:cNvSpPr/>
          <p:nvPr/>
        </p:nvSpPr>
        <p:spPr>
          <a:xfrm>
            <a:off x="2542032" y="1737360"/>
            <a:ext cx="1664208" cy="128016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5184" y="1828800"/>
            <a:ext cx="1517904" cy="1097280"/>
          </a:xfrm>
          <a:prstGeom prst="rect">
            <a:avLst/>
          </a:prstGeom>
          <a:noFill/>
        </p:spPr>
        <p:txBody>
          <a:bodyPr wrap="square" lIns="0" tIns="0" rIns="0" bIns="0">
            <a:spAutoFit/>
          </a:bodyPr>
          <a:lstStyle/>
          <a:p>
            <a:pPr>
              <a:spcAft>
                <a:spcPts val="400"/>
              </a:spcAft>
              <a:defRPr sz="1100" b="1">
                <a:solidFill>
                  <a:srgbClr val="38BDF8"/>
                </a:solidFill>
                <a:latin typeface="Segoe UI"/>
              </a:defRPr>
            </a:pPr>
            <a:r>
              <a:t>2. Uneven Flow</a:t>
            </a:r>
          </a:p>
          <a:p>
            <a:pPr>
              <a:defRPr sz="950">
                <a:solidFill>
                  <a:srgbClr val="94A3B8"/>
                </a:solidFill>
                <a:latin typeface="Segoe UI"/>
              </a:defRPr>
            </a:pPr>
            <a:r>
              <a:t>70%+ funnels into central prominent gate</a:t>
            </a:r>
          </a:p>
        </p:txBody>
      </p:sp>
      <p:sp>
        <p:nvSpPr>
          <p:cNvPr id="10" name="Rounded Rectangle 9"/>
          <p:cNvSpPr/>
          <p:nvPr/>
        </p:nvSpPr>
        <p:spPr>
          <a:xfrm>
            <a:off x="4352544" y="1737360"/>
            <a:ext cx="1664208" cy="128016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828800"/>
            <a:ext cx="1517904" cy="1097280"/>
          </a:xfrm>
          <a:prstGeom prst="rect">
            <a:avLst/>
          </a:prstGeom>
          <a:noFill/>
        </p:spPr>
        <p:txBody>
          <a:bodyPr wrap="square" lIns="0" tIns="0" rIns="0" bIns="0">
            <a:spAutoFit/>
          </a:bodyPr>
          <a:lstStyle/>
          <a:p>
            <a:pPr>
              <a:spcAft>
                <a:spcPts val="400"/>
              </a:spcAft>
              <a:defRPr sz="1100" b="1">
                <a:solidFill>
                  <a:srgbClr val="FBBF24"/>
                </a:solidFill>
                <a:latin typeface="Segoe UI"/>
              </a:defRPr>
            </a:pPr>
            <a:r>
              <a:t>3. Bottleneck Choke</a:t>
            </a:r>
          </a:p>
          <a:p>
            <a:pPr>
              <a:defRPr sz="950">
                <a:solidFill>
                  <a:srgbClr val="94A3B8"/>
                </a:solidFill>
                <a:latin typeface="Segoe UI"/>
              </a:defRPr>
            </a:pPr>
            <a:r>
              <a:t>Inflow rate exceeds physical corridor width</a:t>
            </a:r>
          </a:p>
        </p:txBody>
      </p:sp>
      <p:sp>
        <p:nvSpPr>
          <p:cNvPr id="12" name="Rounded Rectangle 11"/>
          <p:cNvSpPr/>
          <p:nvPr/>
        </p:nvSpPr>
        <p:spPr>
          <a:xfrm>
            <a:off x="6163056" y="1737360"/>
            <a:ext cx="1664208" cy="128016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1828800"/>
            <a:ext cx="1517904" cy="1097280"/>
          </a:xfrm>
          <a:prstGeom prst="rect">
            <a:avLst/>
          </a:prstGeom>
          <a:noFill/>
        </p:spPr>
        <p:txBody>
          <a:bodyPr wrap="square" lIns="0" tIns="0" rIns="0" bIns="0">
            <a:spAutoFit/>
          </a:bodyPr>
          <a:lstStyle/>
          <a:p>
            <a:pPr>
              <a:spcAft>
                <a:spcPts val="400"/>
              </a:spcAft>
              <a:defRPr sz="1100" b="1">
                <a:solidFill>
                  <a:srgbClr val="FBBF24"/>
                </a:solidFill>
                <a:latin typeface="Segoe UI"/>
              </a:defRPr>
            </a:pPr>
            <a:r>
              <a:t>4. Pressure Surges</a:t>
            </a:r>
          </a:p>
          <a:p>
            <a:pPr>
              <a:defRPr sz="950">
                <a:solidFill>
                  <a:srgbClr val="94A3B8"/>
                </a:solidFill>
                <a:latin typeface="Segoe UI"/>
              </a:defRPr>
            </a:pPr>
            <a:r>
              <a:t>Density hits &gt;4-5 pax/m²; crush friction starts</a:t>
            </a:r>
          </a:p>
        </p:txBody>
      </p:sp>
      <p:sp>
        <p:nvSpPr>
          <p:cNvPr id="14" name="Rounded Rectangle 13"/>
          <p:cNvSpPr/>
          <p:nvPr/>
        </p:nvSpPr>
        <p:spPr>
          <a:xfrm>
            <a:off x="7973568" y="1737360"/>
            <a:ext cx="1664208" cy="1280160"/>
          </a:xfrm>
          <a:prstGeom prst="roundRect">
            <a:avLst/>
          </a:prstGeom>
          <a:solidFill>
            <a:srgbClr val="141C2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828800"/>
            <a:ext cx="1517904" cy="1097280"/>
          </a:xfrm>
          <a:prstGeom prst="rect">
            <a:avLst/>
          </a:prstGeom>
          <a:noFill/>
        </p:spPr>
        <p:txBody>
          <a:bodyPr wrap="square" lIns="0" tIns="0" rIns="0" bIns="0">
            <a:spAutoFit/>
          </a:bodyPr>
          <a:lstStyle/>
          <a:p>
            <a:pPr>
              <a:spcAft>
                <a:spcPts val="400"/>
              </a:spcAft>
              <a:defRPr sz="1100" b="1">
                <a:solidFill>
                  <a:srgbClr val="F87171"/>
                </a:solidFill>
                <a:latin typeface="Segoe UI"/>
              </a:defRPr>
            </a:pPr>
            <a:r>
              <a:t>5. Flow Stoppage</a:t>
            </a:r>
          </a:p>
          <a:p>
            <a:pPr>
              <a:defRPr sz="950">
                <a:solidFill>
                  <a:srgbClr val="94A3B8"/>
                </a:solidFill>
                <a:latin typeface="Segoe UI"/>
              </a:defRPr>
            </a:pPr>
            <a:r>
              <a:t>Laminar motion halts; backward shockwaves</a:t>
            </a:r>
          </a:p>
        </p:txBody>
      </p:sp>
      <p:sp>
        <p:nvSpPr>
          <p:cNvPr id="16" name="Rounded Rectangle 15"/>
          <p:cNvSpPr/>
          <p:nvPr/>
        </p:nvSpPr>
        <p:spPr>
          <a:xfrm>
            <a:off x="9784080" y="1737360"/>
            <a:ext cx="1664208" cy="1280160"/>
          </a:xfrm>
          <a:prstGeom prst="roundRect">
            <a:avLst/>
          </a:prstGeom>
          <a:solidFill>
            <a:srgbClr val="141C2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57232" y="1828800"/>
            <a:ext cx="1517904" cy="1097280"/>
          </a:xfrm>
          <a:prstGeom prst="rect">
            <a:avLst/>
          </a:prstGeom>
          <a:noFill/>
        </p:spPr>
        <p:txBody>
          <a:bodyPr wrap="square" lIns="0" tIns="0" rIns="0" bIns="0">
            <a:spAutoFit/>
          </a:bodyPr>
          <a:lstStyle/>
          <a:p>
            <a:pPr>
              <a:spcAft>
                <a:spcPts val="400"/>
              </a:spcAft>
              <a:defRPr sz="1100" b="1">
                <a:solidFill>
                  <a:srgbClr val="F87171"/>
                </a:solidFill>
                <a:latin typeface="Segoe UI"/>
              </a:defRPr>
            </a:pPr>
            <a:r>
              <a:t>6. Evacuation Failure</a:t>
            </a:r>
          </a:p>
          <a:p>
            <a:pPr>
              <a:defRPr sz="950">
                <a:solidFill>
                  <a:srgbClr val="94A3B8"/>
                </a:solidFill>
                <a:latin typeface="Segoe UI"/>
              </a:defRPr>
            </a:pPr>
            <a:r>
              <a:t>Panic, blocked routes &amp; severe stampede hazard</a:t>
            </a:r>
          </a:p>
        </p:txBody>
      </p:sp>
      <p:sp>
        <p:nvSpPr>
          <p:cNvPr id="18" name="Rounded Rectangle 17"/>
          <p:cNvSpPr/>
          <p:nvPr/>
        </p:nvSpPr>
        <p:spPr>
          <a:xfrm>
            <a:off x="731520" y="3200400"/>
            <a:ext cx="5266944" cy="3291840"/>
          </a:xfrm>
          <a:prstGeom prst="roundRect">
            <a:avLst/>
          </a:prstGeom>
          <a:solidFill>
            <a:srgbClr val="26121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383280"/>
            <a:ext cx="4809744" cy="2926080"/>
          </a:xfrm>
          <a:prstGeom prst="rect">
            <a:avLst/>
          </a:prstGeom>
          <a:noFill/>
        </p:spPr>
        <p:txBody>
          <a:bodyPr wrap="square">
            <a:spAutoFit/>
          </a:bodyPr>
          <a:lstStyle/>
          <a:p>
            <a:pPr>
              <a:spcAft>
                <a:spcPts val="800"/>
              </a:spcAft>
              <a:defRPr sz="1100" b="1">
                <a:solidFill>
                  <a:srgbClr val="F87171"/>
                </a:solidFill>
                <a:latin typeface="Consolas"/>
              </a:defRPr>
            </a:pPr>
            <a:r>
              <a:t>TRADITIONAL APPROACH: PASSIVE CCTV MONITORING</a:t>
            </a:r>
          </a:p>
          <a:p>
            <a:pPr>
              <a:spcAft>
                <a:spcPts val="400"/>
              </a:spcAft>
            </a:pPr>
            <a:r>
              <a:rPr b="1" sz="1000">
                <a:solidFill>
                  <a:srgbClr val="F8FAFC"/>
                </a:solidFill>
              </a:rPr>
              <a:t>✗ Retrospective Detection: </a:t>
            </a:r>
            <a:r>
              <a:rPr sz="1000">
                <a:solidFill>
                  <a:srgbClr val="94A3B8"/>
                </a:solidFill>
              </a:rPr>
              <a:t>Cameras record what is happening right now, but cannot forecast where the crowd will be in 10 minutes.</a:t>
            </a:r>
          </a:p>
          <a:p>
            <a:pPr>
              <a:spcAft>
                <a:spcPts val="400"/>
              </a:spcAft>
            </a:pPr>
            <a:r>
              <a:rPr b="1" sz="1000">
                <a:solidFill>
                  <a:srgbClr val="F8FAFC"/>
                </a:solidFill>
              </a:rPr>
              <a:t>✗ Latency Lag: </a:t>
            </a:r>
            <a:r>
              <a:rPr sz="1000">
                <a:solidFill>
                  <a:srgbClr val="94A3B8"/>
                </a:solidFill>
              </a:rPr>
              <a:t>By the time a human operator spots a choke point on video monitors, density has already crossed 5 persons/m².</a:t>
            </a:r>
          </a:p>
          <a:p>
            <a:pPr>
              <a:spcAft>
                <a:spcPts val="400"/>
              </a:spcAft>
            </a:pPr>
            <a:r>
              <a:rPr b="1" sz="1000">
                <a:solidFill>
                  <a:srgbClr val="F8FAFC"/>
                </a:solidFill>
              </a:rPr>
              <a:t>✗ Blind Intervention: </a:t>
            </a:r>
            <a:r>
              <a:rPr sz="1000">
                <a:solidFill>
                  <a:srgbClr val="94A3B8"/>
                </a:solidFill>
              </a:rPr>
              <a:t>Closing a gate on intuition often triggers unintended counter-surges into secondary narrow corridors.</a:t>
            </a:r>
          </a:p>
          <a:p>
            <a:pPr>
              <a:spcAft>
                <a:spcPts val="400"/>
              </a:spcAft>
            </a:pPr>
            <a:r>
              <a:rPr b="1" sz="1000">
                <a:solidFill>
                  <a:srgbClr val="F8FAFC"/>
                </a:solidFill>
              </a:rPr>
              <a:t>✗ No Safety Sandbox: </a:t>
            </a:r>
            <a:r>
              <a:rPr sz="1000">
                <a:solidFill>
                  <a:srgbClr val="94A3B8"/>
                </a:solidFill>
              </a:rPr>
              <a:t>Zero capability to dry-run or validate crowd rerouting plans before executing them on real human beings.</a:t>
            </a:r>
          </a:p>
        </p:txBody>
      </p:sp>
      <p:sp>
        <p:nvSpPr>
          <p:cNvPr id="20" name="Rounded Rectangle 19"/>
          <p:cNvSpPr/>
          <p:nvPr/>
        </p:nvSpPr>
        <p:spPr>
          <a:xfrm>
            <a:off x="6190488" y="3200400"/>
            <a:ext cx="5266944" cy="3291840"/>
          </a:xfrm>
          <a:prstGeom prst="roundRect">
            <a:avLst/>
          </a:prstGeom>
          <a:solidFill>
            <a:srgbClr val="0E241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383280"/>
            <a:ext cx="4809744" cy="2926080"/>
          </a:xfrm>
          <a:prstGeom prst="rect">
            <a:avLst/>
          </a:prstGeom>
          <a:noFill/>
        </p:spPr>
        <p:txBody>
          <a:bodyPr wrap="square">
            <a:spAutoFit/>
          </a:bodyPr>
          <a:lstStyle/>
          <a:p>
            <a:pPr>
              <a:spcAft>
                <a:spcPts val="800"/>
              </a:spcAft>
              <a:defRPr sz="1100" b="1">
                <a:solidFill>
                  <a:srgbClr val="34D399"/>
                </a:solidFill>
                <a:latin typeface="Consolas"/>
              </a:defRPr>
            </a:pPr>
            <a:r>
              <a:t>THE CROWDGUARD X PARADIGM: SIMULATION-DRIVEN CONTROL</a:t>
            </a:r>
          </a:p>
          <a:p>
            <a:pPr>
              <a:spcAft>
                <a:spcPts val="400"/>
              </a:spcAft>
            </a:pPr>
            <a:r>
              <a:rPr b="1" sz="1000">
                <a:solidFill>
                  <a:srgbClr val="F8FAFC"/>
                </a:solidFill>
              </a:rPr>
              <a:t>✓ Anticipatory Intelligence: </a:t>
            </a:r>
            <a:r>
              <a:rPr sz="1000">
                <a:solidFill>
                  <a:srgbClr val="94A3B8"/>
                </a:solidFill>
              </a:rPr>
              <a:t>Models crowd fluid dynamics to highlight bottlenecks 5-15 minutes before they reach dangerous pressure.</a:t>
            </a:r>
          </a:p>
          <a:p>
            <a:pPr>
              <a:spcAft>
                <a:spcPts val="400"/>
              </a:spcAft>
            </a:pPr>
            <a:r>
              <a:rPr b="1" sz="1000">
                <a:solidFill>
                  <a:srgbClr val="F8FAFC"/>
                </a:solidFill>
              </a:rPr>
              <a:t>✓ Virtual What-If Sandbox: </a:t>
            </a:r>
            <a:r>
              <a:rPr sz="1000">
                <a:solidFill>
                  <a:srgbClr val="94A3B8"/>
                </a:solidFill>
              </a:rPr>
              <a:t>Commanders test actions (closing Gate G2, deploying 12 marshals) in the digital twin in under 2 seconds.</a:t>
            </a:r>
          </a:p>
          <a:p>
            <a:pPr>
              <a:spcAft>
                <a:spcPts val="400"/>
              </a:spcAft>
            </a:pPr>
            <a:r>
              <a:rPr b="1" sz="1000">
                <a:solidFill>
                  <a:srgbClr val="F8FAFC"/>
                </a:solidFill>
              </a:rPr>
              <a:t>✓ Deterministic Physics: </a:t>
            </a:r>
            <a:r>
              <a:rPr sz="1000">
                <a:solidFill>
                  <a:srgbClr val="94A3B8"/>
                </a:solidFill>
              </a:rPr>
              <a:t>Simulates personal space repulsion, corridor drag, and laminar vs turbulent flow transitions.</a:t>
            </a:r>
          </a:p>
          <a:p>
            <a:pPr>
              <a:spcAft>
                <a:spcPts val="400"/>
              </a:spcAft>
            </a:pPr>
            <a:r>
              <a:rPr b="1" sz="1000">
                <a:solidFill>
                  <a:srgbClr val="F8FAFC"/>
                </a:solidFill>
              </a:rPr>
              <a:t>✓ Actionable Protocol: </a:t>
            </a:r>
            <a:r>
              <a:rPr sz="1000">
                <a:solidFill>
                  <a:srgbClr val="94A3B8"/>
                </a:solidFill>
              </a:rPr>
              <a:t>Outputs concrete diversion orders: 'Close Gate G2, divert inbound flow east to Gate G3 corridor.'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PROPOSED SOLUTION | ARCHITECTURAL SHIFT</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From Passive Monitoring to Simulation-Based Decision Support</a:t>
            </a:r>
          </a:p>
          <a:p>
            <a:pPr>
              <a:defRPr sz="1100">
                <a:solidFill>
                  <a:srgbClr val="94A3B8"/>
                </a:solidFill>
                <a:latin typeface="Segoe UI"/>
              </a:defRPr>
            </a:pPr>
            <a:r>
              <a:t>A proactive computational loop enabling incident commanders to stress-test policies in seconds.</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399032" cy="114300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01</a:t>
            </a:r>
          </a:p>
          <a:p>
            <a:pPr>
              <a:spcAft>
                <a:spcPts val="200"/>
              </a:spcAft>
              <a:defRPr sz="1000" b="1">
                <a:solidFill>
                  <a:srgbClr val="38BDF8"/>
                </a:solidFill>
                <a:latin typeface="Segoe UI"/>
              </a:defRPr>
            </a:pPr>
            <a:r>
              <a:t>VENUE DATA</a:t>
            </a:r>
          </a:p>
          <a:p>
            <a:pPr>
              <a:defRPr sz="850">
                <a:solidFill>
                  <a:srgbClr val="94A3B8"/>
                </a:solidFill>
                <a:latin typeface="Segoe UI"/>
              </a:defRPr>
            </a:pPr>
            <a:r>
              <a:t>CAD &amp; zone coordinates</a:t>
            </a:r>
          </a:p>
        </p:txBody>
      </p:sp>
      <p:sp>
        <p:nvSpPr>
          <p:cNvPr id="8" name="Rounded Rectangle 7"/>
          <p:cNvSpPr/>
          <p:nvPr/>
        </p:nvSpPr>
        <p:spPr>
          <a:xfrm>
            <a:off x="2286000" y="1737360"/>
            <a:ext cx="1399032" cy="114300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4086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02</a:t>
            </a:r>
          </a:p>
          <a:p>
            <a:pPr>
              <a:spcAft>
                <a:spcPts val="200"/>
              </a:spcAft>
              <a:defRPr sz="1000" b="1">
                <a:solidFill>
                  <a:srgbClr val="38BDF8"/>
                </a:solidFill>
                <a:latin typeface="Segoe UI"/>
              </a:defRPr>
            </a:pPr>
            <a:r>
              <a:t>DIGITAL TWIN</a:t>
            </a:r>
          </a:p>
          <a:p>
            <a:pPr>
              <a:defRPr sz="850">
                <a:solidFill>
                  <a:srgbClr val="94A3B8"/>
                </a:solidFill>
                <a:latin typeface="Segoe UI"/>
              </a:defRPr>
            </a:pPr>
            <a:r>
              <a:t>Spatial graph representation</a:t>
            </a:r>
          </a:p>
        </p:txBody>
      </p:sp>
      <p:sp>
        <p:nvSpPr>
          <p:cNvPr id="10" name="Rounded Rectangle 9"/>
          <p:cNvSpPr/>
          <p:nvPr/>
        </p:nvSpPr>
        <p:spPr>
          <a:xfrm>
            <a:off x="3840480" y="1737360"/>
            <a:ext cx="1399032" cy="114300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9534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03</a:t>
            </a:r>
          </a:p>
          <a:p>
            <a:pPr>
              <a:spcAft>
                <a:spcPts val="200"/>
              </a:spcAft>
              <a:defRPr sz="1000" b="1">
                <a:solidFill>
                  <a:srgbClr val="38BDF8"/>
                </a:solidFill>
                <a:latin typeface="Segoe UI"/>
              </a:defRPr>
            </a:pPr>
            <a:r>
              <a:t>CROWD STATE</a:t>
            </a:r>
          </a:p>
          <a:p>
            <a:pPr>
              <a:defRPr sz="850">
                <a:solidFill>
                  <a:srgbClr val="94A3B8"/>
                </a:solidFill>
                <a:latin typeface="Segoe UI"/>
              </a:defRPr>
            </a:pPr>
            <a:r>
              <a:t>60 FPS Social Force agents</a:t>
            </a:r>
          </a:p>
        </p:txBody>
      </p:sp>
      <p:sp>
        <p:nvSpPr>
          <p:cNvPr id="12" name="Rounded Rectangle 11"/>
          <p:cNvSpPr/>
          <p:nvPr/>
        </p:nvSpPr>
        <p:spPr>
          <a:xfrm>
            <a:off x="5394960" y="1737360"/>
            <a:ext cx="1399032" cy="114300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982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04</a:t>
            </a:r>
          </a:p>
          <a:p>
            <a:pPr>
              <a:spcAft>
                <a:spcPts val="200"/>
              </a:spcAft>
              <a:defRPr sz="1000" b="1">
                <a:solidFill>
                  <a:srgbClr val="FBBF24"/>
                </a:solidFill>
                <a:latin typeface="Segoe UI"/>
              </a:defRPr>
            </a:pPr>
            <a:r>
              <a:t>RISK ANALYSIS</a:t>
            </a:r>
          </a:p>
          <a:p>
            <a:pPr>
              <a:defRPr sz="850">
                <a:solidFill>
                  <a:srgbClr val="94A3B8"/>
                </a:solidFill>
                <a:latin typeface="Segoe UI"/>
              </a:defRPr>
            </a:pPr>
            <a:r>
              <a:t>Capacity &amp; velocity triggers</a:t>
            </a:r>
          </a:p>
        </p:txBody>
      </p:sp>
      <p:sp>
        <p:nvSpPr>
          <p:cNvPr id="14" name="Rounded Rectangle 13"/>
          <p:cNvSpPr/>
          <p:nvPr/>
        </p:nvSpPr>
        <p:spPr>
          <a:xfrm>
            <a:off x="6949440" y="1737360"/>
            <a:ext cx="1399032" cy="114300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430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05</a:t>
            </a:r>
          </a:p>
          <a:p>
            <a:pPr>
              <a:spcAft>
                <a:spcPts val="200"/>
              </a:spcAft>
              <a:defRPr sz="1000" b="1">
                <a:solidFill>
                  <a:srgbClr val="34D399"/>
                </a:solidFill>
                <a:latin typeface="Segoe UI"/>
              </a:defRPr>
            </a:pPr>
            <a:r>
              <a:t>WHAT-IF SIM</a:t>
            </a:r>
          </a:p>
          <a:p>
            <a:pPr>
              <a:defRPr sz="850">
                <a:solidFill>
                  <a:srgbClr val="94A3B8"/>
                </a:solidFill>
                <a:latin typeface="Segoe UI"/>
              </a:defRPr>
            </a:pPr>
            <a:r>
              <a:t>Interactive gate/staff sandbox</a:t>
            </a:r>
          </a:p>
        </p:txBody>
      </p:sp>
      <p:sp>
        <p:nvSpPr>
          <p:cNvPr id="16" name="Rounded Rectangle 15"/>
          <p:cNvSpPr/>
          <p:nvPr/>
        </p:nvSpPr>
        <p:spPr>
          <a:xfrm>
            <a:off x="8503920" y="1737360"/>
            <a:ext cx="1399032" cy="114300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5878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06</a:t>
            </a:r>
          </a:p>
          <a:p>
            <a:pPr>
              <a:spcAft>
                <a:spcPts val="200"/>
              </a:spcAft>
              <a:defRPr sz="1000" b="1">
                <a:solidFill>
                  <a:srgbClr val="34D399"/>
                </a:solidFill>
                <a:latin typeface="Segoe UI"/>
              </a:defRPr>
            </a:pPr>
            <a:r>
              <a:t>ROUTE INTEL</a:t>
            </a:r>
          </a:p>
          <a:p>
            <a:pPr>
              <a:defRPr sz="850">
                <a:solidFill>
                  <a:srgbClr val="94A3B8"/>
                </a:solidFill>
                <a:latin typeface="Segoe UI"/>
              </a:defRPr>
            </a:pPr>
            <a:r>
              <a:t>Dynamic waypoint recalculation</a:t>
            </a:r>
          </a:p>
        </p:txBody>
      </p:sp>
      <p:sp>
        <p:nvSpPr>
          <p:cNvPr id="18" name="Rounded Rectangle 17"/>
          <p:cNvSpPr/>
          <p:nvPr/>
        </p:nvSpPr>
        <p:spPr>
          <a:xfrm>
            <a:off x="10058400" y="1737360"/>
            <a:ext cx="1399032" cy="114300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13264" y="1847088"/>
            <a:ext cx="1289304" cy="923544"/>
          </a:xfrm>
          <a:prstGeom prst="rect">
            <a:avLst/>
          </a:prstGeom>
          <a:noFill/>
        </p:spPr>
        <p:txBody>
          <a:bodyPr wrap="square" lIns="0" tIns="0" rIns="0" bIns="0">
            <a:spAutoFit/>
          </a:bodyPr>
          <a:lstStyle/>
          <a:p>
            <a:pPr>
              <a:spcAft>
                <a:spcPts val="200"/>
              </a:spcAft>
              <a:defRPr sz="800" b="1">
                <a:solidFill>
                  <a:srgbClr val="64748B"/>
                </a:solidFill>
                <a:latin typeface="Consolas"/>
              </a:defRPr>
            </a:pPr>
            <a:r>
              <a:t>STAGE 07</a:t>
            </a:r>
          </a:p>
          <a:p>
            <a:pPr>
              <a:spcAft>
                <a:spcPts val="200"/>
              </a:spcAft>
              <a:defRPr sz="1000" b="1">
                <a:solidFill>
                  <a:srgbClr val="34D399"/>
                </a:solidFill>
                <a:latin typeface="Segoe UI"/>
              </a:defRPr>
            </a:pPr>
            <a:r>
              <a:t>DECISION SUPPORT</a:t>
            </a:r>
          </a:p>
          <a:p>
            <a:pPr>
              <a:defRPr sz="850">
                <a:solidFill>
                  <a:srgbClr val="94A3B8"/>
                </a:solidFill>
                <a:latin typeface="Segoe UI"/>
              </a:defRPr>
            </a:pPr>
            <a:r>
              <a:t>Actionable commander advisory</a:t>
            </a:r>
          </a:p>
        </p:txBody>
      </p:sp>
      <p:sp>
        <p:nvSpPr>
          <p:cNvPr id="20" name="Rounded Rectangle 19"/>
          <p:cNvSpPr/>
          <p:nvPr/>
        </p:nvSpPr>
        <p:spPr>
          <a:xfrm>
            <a:off x="731520" y="3063240"/>
            <a:ext cx="2542032" cy="329184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246120"/>
            <a:ext cx="2249424" cy="2926080"/>
          </a:xfrm>
          <a:prstGeom prst="rect">
            <a:avLst/>
          </a:prstGeom>
          <a:noFill/>
        </p:spPr>
        <p:txBody>
          <a:bodyPr wrap="square">
            <a:spAutoFit/>
          </a:bodyPr>
          <a:lstStyle/>
          <a:p>
            <a:pPr>
              <a:spcAft>
                <a:spcPts val="800"/>
              </a:spcAft>
              <a:defRPr sz="1200" b="1">
                <a:solidFill>
                  <a:srgbClr val="F8FAFC"/>
                </a:solidFill>
                <a:latin typeface="Segoe UI"/>
              </a:defRPr>
            </a:pPr>
            <a:r>
              <a:t>1. Digital Representation</a:t>
            </a:r>
          </a:p>
          <a:p>
            <a:pPr>
              <a:spcAft>
                <a:spcPts val="800"/>
              </a:spcAft>
              <a:defRPr sz="1000">
                <a:solidFill>
                  <a:srgbClr val="94A3B8"/>
                </a:solidFill>
                <a:latin typeface="Segoe UI"/>
              </a:defRPr>
            </a:pPr>
            <a:r>
              <a:t>Accurately maps venue perimeter, entry turnstiles, restricted sanctums, and emergency exits with designed maximum capacities.</a:t>
            </a:r>
          </a:p>
          <a:p>
            <a:pPr>
              <a:defRPr sz="800" b="1">
                <a:solidFill>
                  <a:srgbClr val="34D399"/>
                </a:solidFill>
                <a:latin typeface="Consolas"/>
              </a:defRPr>
            </a:pPr>
            <a:r>
              <a:t>VERIFIED IN PROTOTYPE</a:t>
            </a:r>
          </a:p>
        </p:txBody>
      </p:sp>
      <p:sp>
        <p:nvSpPr>
          <p:cNvPr id="22" name="Rounded Rectangle 21"/>
          <p:cNvSpPr/>
          <p:nvPr/>
        </p:nvSpPr>
        <p:spPr>
          <a:xfrm>
            <a:off x="3456432" y="3063240"/>
            <a:ext cx="2542032" cy="329184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02736" y="3246120"/>
            <a:ext cx="2249424" cy="2926080"/>
          </a:xfrm>
          <a:prstGeom prst="rect">
            <a:avLst/>
          </a:prstGeom>
          <a:noFill/>
        </p:spPr>
        <p:txBody>
          <a:bodyPr wrap="square">
            <a:spAutoFit/>
          </a:bodyPr>
          <a:lstStyle/>
          <a:p>
            <a:pPr>
              <a:spcAft>
                <a:spcPts val="800"/>
              </a:spcAft>
              <a:defRPr sz="1200" b="1">
                <a:solidFill>
                  <a:srgbClr val="F8FAFC"/>
                </a:solidFill>
                <a:latin typeface="Segoe UI"/>
              </a:defRPr>
            </a:pPr>
            <a:r>
              <a:t>2. Micro-Mobility Tracking</a:t>
            </a:r>
          </a:p>
          <a:p>
            <a:pPr>
              <a:spcAft>
                <a:spcPts val="800"/>
              </a:spcAft>
              <a:defRPr sz="1000">
                <a:solidFill>
                  <a:srgbClr val="94A3B8"/>
                </a:solidFill>
                <a:latin typeface="Segoe UI"/>
              </a:defRPr>
            </a:pPr>
            <a:r>
              <a:t>Models hundreds of autonomous agents obeying personal space repulsion and corridor velocity constraints at 60 frames per second.</a:t>
            </a:r>
          </a:p>
          <a:p>
            <a:pPr>
              <a:defRPr sz="800" b="1">
                <a:solidFill>
                  <a:srgbClr val="34D399"/>
                </a:solidFill>
                <a:latin typeface="Consolas"/>
              </a:defRPr>
            </a:pPr>
            <a:r>
              <a:t>VERIFIED IN PROTOTYPE</a:t>
            </a:r>
          </a:p>
        </p:txBody>
      </p:sp>
      <p:sp>
        <p:nvSpPr>
          <p:cNvPr id="24" name="Rounded Rectangle 23"/>
          <p:cNvSpPr/>
          <p:nvPr/>
        </p:nvSpPr>
        <p:spPr>
          <a:xfrm>
            <a:off x="6181344" y="3063240"/>
            <a:ext cx="2542032" cy="329184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7648" y="3246120"/>
            <a:ext cx="2249424" cy="2926080"/>
          </a:xfrm>
          <a:prstGeom prst="rect">
            <a:avLst/>
          </a:prstGeom>
          <a:noFill/>
        </p:spPr>
        <p:txBody>
          <a:bodyPr wrap="square">
            <a:spAutoFit/>
          </a:bodyPr>
          <a:lstStyle/>
          <a:p>
            <a:pPr>
              <a:spcAft>
                <a:spcPts val="800"/>
              </a:spcAft>
              <a:defRPr sz="1200" b="1">
                <a:solidFill>
                  <a:srgbClr val="F8FAFC"/>
                </a:solidFill>
                <a:latin typeface="Segoe UI"/>
              </a:defRPr>
            </a:pPr>
            <a:r>
              <a:t>3. Preemptive Choke Detection</a:t>
            </a:r>
          </a:p>
          <a:p>
            <a:pPr>
              <a:spcAft>
                <a:spcPts val="800"/>
              </a:spcAft>
              <a:defRPr sz="1000">
                <a:solidFill>
                  <a:srgbClr val="94A3B8"/>
                </a:solidFill>
                <a:latin typeface="Segoe UI"/>
              </a:defRPr>
            </a:pPr>
            <a:r>
              <a:t>Flags zones exceeding critical capacity thresholds (e.g. Zone B at 88%) before physical gridlock occurs.</a:t>
            </a:r>
          </a:p>
          <a:p>
            <a:pPr>
              <a:defRPr sz="800" b="1">
                <a:solidFill>
                  <a:srgbClr val="34D399"/>
                </a:solidFill>
                <a:latin typeface="Consolas"/>
              </a:defRPr>
            </a:pPr>
            <a:r>
              <a:t>VERIFIED IN PROTOTYPE</a:t>
            </a:r>
          </a:p>
        </p:txBody>
      </p:sp>
      <p:sp>
        <p:nvSpPr>
          <p:cNvPr id="26" name="Rounded Rectangle 25"/>
          <p:cNvSpPr/>
          <p:nvPr/>
        </p:nvSpPr>
        <p:spPr>
          <a:xfrm>
            <a:off x="8906256" y="3063240"/>
            <a:ext cx="2542032" cy="329184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3246120"/>
            <a:ext cx="2249424" cy="2926080"/>
          </a:xfrm>
          <a:prstGeom prst="rect">
            <a:avLst/>
          </a:prstGeom>
          <a:noFill/>
        </p:spPr>
        <p:txBody>
          <a:bodyPr wrap="square">
            <a:spAutoFit/>
          </a:bodyPr>
          <a:lstStyle/>
          <a:p>
            <a:pPr>
              <a:spcAft>
                <a:spcPts val="800"/>
              </a:spcAft>
              <a:defRPr sz="1200" b="1">
                <a:solidFill>
                  <a:srgbClr val="F8FAFC"/>
                </a:solidFill>
                <a:latin typeface="Segoe UI"/>
              </a:defRPr>
            </a:pPr>
            <a:r>
              <a:t>4. Zero-Risk What-If Testing</a:t>
            </a:r>
          </a:p>
          <a:p>
            <a:pPr>
              <a:spcAft>
                <a:spcPts val="800"/>
              </a:spcAft>
              <a:defRPr sz="1000">
                <a:solidFill>
                  <a:srgbClr val="94A3B8"/>
                </a:solidFill>
                <a:latin typeface="Segoe UI"/>
              </a:defRPr>
            </a:pPr>
            <a:r>
              <a:t>Allows operators to toggle gate closures, divert arrival lanes, and deploy queue marshals with real-time Before vs After telemetry.</a:t>
            </a:r>
          </a:p>
          <a:p>
            <a:pPr>
              <a:defRPr sz="800" b="1">
                <a:solidFill>
                  <a:srgbClr val="34D399"/>
                </a:solidFill>
                <a:latin typeface="Consolas"/>
              </a:defRPr>
            </a:pPr>
            <a:r>
              <a:t>VERIFIED IN PROTOTYPE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SYSTEM WORKFLOW | DETERMINISTIC PIPELINE</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End-to-End Operational Workflow</a:t>
            </a:r>
          </a:p>
          <a:p>
            <a:pPr>
              <a:defRPr sz="1100">
                <a:solidFill>
                  <a:srgbClr val="94A3B8"/>
                </a:solidFill>
                <a:latin typeface="Segoe UI"/>
              </a:defRPr>
            </a:pPr>
            <a:r>
              <a:t>How raw venue geometry and crowd influx transform into validated field actions.</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993392" cy="16459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47088"/>
            <a:ext cx="1810512" cy="1426464"/>
          </a:xfrm>
          <a:prstGeom prst="rect">
            <a:avLst/>
          </a:prstGeom>
          <a:noFill/>
        </p:spPr>
        <p:txBody>
          <a:bodyPr wrap="square">
            <a:spAutoFit/>
          </a:bodyPr>
          <a:lstStyle/>
          <a:p>
            <a:pPr>
              <a:spcAft>
                <a:spcPts val="400"/>
              </a:spcAft>
              <a:defRPr sz="1100" b="1">
                <a:solidFill>
                  <a:srgbClr val="38BDF8"/>
                </a:solidFill>
                <a:latin typeface="Segoe UI"/>
              </a:defRPr>
            </a:pPr>
            <a:r>
              <a:t>01. Select Scenario</a:t>
            </a:r>
          </a:p>
          <a:p>
            <a:pPr>
              <a:defRPr sz="950">
                <a:solidFill>
                  <a:srgbClr val="94A3B8"/>
                </a:solidFill>
                <a:latin typeface="Segoe UI"/>
              </a:defRPr>
            </a:pPr>
            <a:r>
              <a:t>Operator selects venue (Temple, Station, Stadium, Fest).</a:t>
            </a:r>
          </a:p>
        </p:txBody>
      </p:sp>
      <p:sp>
        <p:nvSpPr>
          <p:cNvPr id="8" name="Rounded Rectangle 7"/>
          <p:cNvSpPr/>
          <p:nvPr/>
        </p:nvSpPr>
        <p:spPr>
          <a:xfrm>
            <a:off x="2907792" y="1737360"/>
            <a:ext cx="1993392" cy="16459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2" y="1847088"/>
            <a:ext cx="1810512" cy="1426464"/>
          </a:xfrm>
          <a:prstGeom prst="rect">
            <a:avLst/>
          </a:prstGeom>
          <a:noFill/>
        </p:spPr>
        <p:txBody>
          <a:bodyPr wrap="square">
            <a:spAutoFit/>
          </a:bodyPr>
          <a:lstStyle/>
          <a:p>
            <a:pPr>
              <a:spcAft>
                <a:spcPts val="400"/>
              </a:spcAft>
              <a:defRPr sz="1100" b="1">
                <a:solidFill>
                  <a:srgbClr val="38BDF8"/>
                </a:solidFill>
                <a:latin typeface="Segoe UI"/>
              </a:defRPr>
            </a:pPr>
            <a:r>
              <a:t>02. Ingest Twin Geometry</a:t>
            </a:r>
          </a:p>
          <a:p>
            <a:pPr>
              <a:defRPr sz="950">
                <a:solidFill>
                  <a:srgbClr val="94A3B8"/>
                </a:solidFill>
                <a:latin typeface="Segoe UI"/>
              </a:defRPr>
            </a:pPr>
            <a:r>
              <a:t>Loads zone boundaries, gate portals &amp; waypoints.</a:t>
            </a:r>
          </a:p>
        </p:txBody>
      </p:sp>
      <p:sp>
        <p:nvSpPr>
          <p:cNvPr id="10" name="Rounded Rectangle 9"/>
          <p:cNvSpPr/>
          <p:nvPr/>
        </p:nvSpPr>
        <p:spPr>
          <a:xfrm>
            <a:off x="5084064" y="1737360"/>
            <a:ext cx="1993392" cy="16459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504" y="1847088"/>
            <a:ext cx="1810512" cy="1426464"/>
          </a:xfrm>
          <a:prstGeom prst="rect">
            <a:avLst/>
          </a:prstGeom>
          <a:noFill/>
        </p:spPr>
        <p:txBody>
          <a:bodyPr wrap="square">
            <a:spAutoFit/>
          </a:bodyPr>
          <a:lstStyle/>
          <a:p>
            <a:pPr>
              <a:spcAft>
                <a:spcPts val="400"/>
              </a:spcAft>
              <a:defRPr sz="1100" b="1">
                <a:solidFill>
                  <a:srgbClr val="38BDF8"/>
                </a:solidFill>
                <a:latin typeface="Segoe UI"/>
              </a:defRPr>
            </a:pPr>
            <a:r>
              <a:t>03. Set Influx Rates</a:t>
            </a:r>
          </a:p>
          <a:p>
            <a:pPr>
              <a:defRPr sz="950">
                <a:solidFill>
                  <a:srgbClr val="94A3B8"/>
                </a:solidFill>
                <a:latin typeface="Segoe UI"/>
              </a:defRPr>
            </a:pPr>
            <a:r>
              <a:t>Configures arrival surges &amp; baseline headcount.</a:t>
            </a:r>
          </a:p>
        </p:txBody>
      </p:sp>
      <p:sp>
        <p:nvSpPr>
          <p:cNvPr id="12" name="Rounded Rectangle 11"/>
          <p:cNvSpPr/>
          <p:nvPr/>
        </p:nvSpPr>
        <p:spPr>
          <a:xfrm>
            <a:off x="7260336" y="1737360"/>
            <a:ext cx="1993392" cy="16459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1776" y="1847088"/>
            <a:ext cx="1810512" cy="1426464"/>
          </a:xfrm>
          <a:prstGeom prst="rect">
            <a:avLst/>
          </a:prstGeom>
          <a:noFill/>
        </p:spPr>
        <p:txBody>
          <a:bodyPr wrap="square">
            <a:spAutoFit/>
          </a:bodyPr>
          <a:lstStyle/>
          <a:p>
            <a:pPr>
              <a:spcAft>
                <a:spcPts val="400"/>
              </a:spcAft>
              <a:defRPr sz="1100" b="1">
                <a:solidFill>
                  <a:srgbClr val="38BDF8"/>
                </a:solidFill>
                <a:latin typeface="Segoe UI"/>
              </a:defRPr>
            </a:pPr>
            <a:r>
              <a:t>04. Spawn Agent State</a:t>
            </a:r>
          </a:p>
          <a:p>
            <a:pPr>
              <a:defRPr sz="950">
                <a:solidFill>
                  <a:srgbClr val="94A3B8"/>
                </a:solidFill>
                <a:latin typeface="Segoe UI"/>
              </a:defRPr>
            </a:pPr>
            <a:r>
              <a:t>Instantiates 320+ agents governed by Social Force.</a:t>
            </a:r>
          </a:p>
        </p:txBody>
      </p:sp>
      <p:sp>
        <p:nvSpPr>
          <p:cNvPr id="14" name="Rounded Rectangle 13"/>
          <p:cNvSpPr/>
          <p:nvPr/>
        </p:nvSpPr>
        <p:spPr>
          <a:xfrm>
            <a:off x="9436608" y="1737360"/>
            <a:ext cx="1993392" cy="164592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8048" y="1847088"/>
            <a:ext cx="1810512" cy="1426464"/>
          </a:xfrm>
          <a:prstGeom prst="rect">
            <a:avLst/>
          </a:prstGeom>
          <a:noFill/>
        </p:spPr>
        <p:txBody>
          <a:bodyPr wrap="square">
            <a:spAutoFit/>
          </a:bodyPr>
          <a:lstStyle/>
          <a:p>
            <a:pPr>
              <a:spcAft>
                <a:spcPts val="400"/>
              </a:spcAft>
              <a:defRPr sz="1100" b="1">
                <a:solidFill>
                  <a:srgbClr val="FBBF24"/>
                </a:solidFill>
                <a:latin typeface="Segoe UI"/>
              </a:defRPr>
            </a:pPr>
            <a:r>
              <a:t>05. Compute Telemetry</a:t>
            </a:r>
          </a:p>
          <a:p>
            <a:pPr>
              <a:defRPr sz="950">
                <a:solidFill>
                  <a:srgbClr val="94A3B8"/>
                </a:solidFill>
                <a:latin typeface="Segoe UI"/>
              </a:defRPr>
            </a:pPr>
            <a:r>
              <a:t>Calculates live zone densities and flow speeds.</a:t>
            </a:r>
          </a:p>
        </p:txBody>
      </p:sp>
      <p:sp>
        <p:nvSpPr>
          <p:cNvPr id="16" name="Rounded Rectangle 15"/>
          <p:cNvSpPr/>
          <p:nvPr/>
        </p:nvSpPr>
        <p:spPr>
          <a:xfrm>
            <a:off x="731520" y="3566160"/>
            <a:ext cx="1993392" cy="1645920"/>
          </a:xfrm>
          <a:prstGeom prst="roundRect">
            <a:avLst/>
          </a:prstGeom>
          <a:solidFill>
            <a:srgbClr val="141C2C"/>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75888"/>
            <a:ext cx="1810512" cy="1426464"/>
          </a:xfrm>
          <a:prstGeom prst="rect">
            <a:avLst/>
          </a:prstGeom>
          <a:noFill/>
        </p:spPr>
        <p:txBody>
          <a:bodyPr wrap="square">
            <a:spAutoFit/>
          </a:bodyPr>
          <a:lstStyle/>
          <a:p>
            <a:pPr>
              <a:spcAft>
                <a:spcPts val="400"/>
              </a:spcAft>
              <a:defRPr sz="1100" b="1">
                <a:solidFill>
                  <a:srgbClr val="F87171"/>
                </a:solidFill>
                <a:latin typeface="Segoe UI"/>
              </a:defRPr>
            </a:pPr>
            <a:r>
              <a:t>06. Detect Risk Zones</a:t>
            </a:r>
          </a:p>
          <a:p>
            <a:pPr>
              <a:defRPr sz="950">
                <a:solidFill>
                  <a:srgbClr val="94A3B8"/>
                </a:solidFill>
                <a:latin typeface="Segoe UI"/>
              </a:defRPr>
            </a:pPr>
            <a:r>
              <a:t>Flags threshold breaches (e.g. Zone B &gt;80% density).</a:t>
            </a:r>
          </a:p>
        </p:txBody>
      </p:sp>
      <p:sp>
        <p:nvSpPr>
          <p:cNvPr id="18" name="Rounded Rectangle 17"/>
          <p:cNvSpPr/>
          <p:nvPr/>
        </p:nvSpPr>
        <p:spPr>
          <a:xfrm>
            <a:off x="2907792" y="3566160"/>
            <a:ext cx="1993392" cy="164592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9232" y="3675888"/>
            <a:ext cx="1810512" cy="1426464"/>
          </a:xfrm>
          <a:prstGeom prst="rect">
            <a:avLst/>
          </a:prstGeom>
          <a:noFill/>
        </p:spPr>
        <p:txBody>
          <a:bodyPr wrap="square">
            <a:spAutoFit/>
          </a:bodyPr>
          <a:lstStyle/>
          <a:p>
            <a:pPr>
              <a:spcAft>
                <a:spcPts val="400"/>
              </a:spcAft>
              <a:defRPr sz="1100" b="1">
                <a:solidFill>
                  <a:srgbClr val="FBBF24"/>
                </a:solidFill>
                <a:latin typeface="Segoe UI"/>
              </a:defRPr>
            </a:pPr>
            <a:r>
              <a:t>07. Apply What-If Policy</a:t>
            </a:r>
          </a:p>
          <a:p>
            <a:pPr>
              <a:defRPr sz="950">
                <a:solidFill>
                  <a:srgbClr val="94A3B8"/>
                </a:solidFill>
                <a:latin typeface="Segoe UI"/>
              </a:defRPr>
            </a:pPr>
            <a:r>
              <a:t>Operator toggles gate closure &amp; marshal dispatch.</a:t>
            </a:r>
          </a:p>
        </p:txBody>
      </p:sp>
      <p:sp>
        <p:nvSpPr>
          <p:cNvPr id="20" name="Rounded Rectangle 19"/>
          <p:cNvSpPr/>
          <p:nvPr/>
        </p:nvSpPr>
        <p:spPr>
          <a:xfrm>
            <a:off x="5084064" y="3566160"/>
            <a:ext cx="1993392" cy="16459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75504" y="3675888"/>
            <a:ext cx="1810512" cy="1426464"/>
          </a:xfrm>
          <a:prstGeom prst="rect">
            <a:avLst/>
          </a:prstGeom>
          <a:noFill/>
        </p:spPr>
        <p:txBody>
          <a:bodyPr wrap="square">
            <a:spAutoFit/>
          </a:bodyPr>
          <a:lstStyle/>
          <a:p>
            <a:pPr>
              <a:spcAft>
                <a:spcPts val="400"/>
              </a:spcAft>
              <a:defRPr sz="1100" b="1">
                <a:solidFill>
                  <a:srgbClr val="34D399"/>
                </a:solidFill>
                <a:latin typeface="Segoe UI"/>
              </a:defRPr>
            </a:pPr>
            <a:r>
              <a:t>08. Recalculate Vectors</a:t>
            </a:r>
          </a:p>
          <a:p>
            <a:pPr>
              <a:defRPr sz="950">
                <a:solidFill>
                  <a:srgbClr val="94A3B8"/>
                </a:solidFill>
                <a:latin typeface="Segoe UI"/>
              </a:defRPr>
            </a:pPr>
            <a:r>
              <a:t>Engine dynamically recalculates routing in real time.</a:t>
            </a:r>
          </a:p>
        </p:txBody>
      </p:sp>
      <p:sp>
        <p:nvSpPr>
          <p:cNvPr id="22" name="Rounded Rectangle 21"/>
          <p:cNvSpPr/>
          <p:nvPr/>
        </p:nvSpPr>
        <p:spPr>
          <a:xfrm>
            <a:off x="7260336" y="3566160"/>
            <a:ext cx="1993392" cy="16459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51776" y="3675888"/>
            <a:ext cx="1810512" cy="1426464"/>
          </a:xfrm>
          <a:prstGeom prst="rect">
            <a:avLst/>
          </a:prstGeom>
          <a:noFill/>
        </p:spPr>
        <p:txBody>
          <a:bodyPr wrap="square">
            <a:spAutoFit/>
          </a:bodyPr>
          <a:lstStyle/>
          <a:p>
            <a:pPr>
              <a:spcAft>
                <a:spcPts val="400"/>
              </a:spcAft>
              <a:defRPr sz="1100" b="1">
                <a:solidFill>
                  <a:srgbClr val="34D399"/>
                </a:solidFill>
                <a:latin typeface="Segoe UI"/>
              </a:defRPr>
            </a:pPr>
            <a:r>
              <a:t>09. Before vs After Delta</a:t>
            </a:r>
          </a:p>
          <a:p>
            <a:pPr>
              <a:defRPr sz="950">
                <a:solidFill>
                  <a:srgbClr val="94A3B8"/>
                </a:solidFill>
                <a:latin typeface="Segoe UI"/>
              </a:defRPr>
            </a:pPr>
            <a:r>
              <a:t>Dual-engine compares density, speed &amp; exit loads.</a:t>
            </a:r>
          </a:p>
        </p:txBody>
      </p:sp>
      <p:sp>
        <p:nvSpPr>
          <p:cNvPr id="24" name="Rounded Rectangle 23"/>
          <p:cNvSpPr/>
          <p:nvPr/>
        </p:nvSpPr>
        <p:spPr>
          <a:xfrm>
            <a:off x="9436608" y="3566160"/>
            <a:ext cx="1993392" cy="16459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28048" y="3675888"/>
            <a:ext cx="1810512" cy="1426464"/>
          </a:xfrm>
          <a:prstGeom prst="rect">
            <a:avLst/>
          </a:prstGeom>
          <a:noFill/>
        </p:spPr>
        <p:txBody>
          <a:bodyPr wrap="square">
            <a:spAutoFit/>
          </a:bodyPr>
          <a:lstStyle/>
          <a:p>
            <a:pPr>
              <a:spcAft>
                <a:spcPts val="400"/>
              </a:spcAft>
              <a:defRPr sz="1100" b="1">
                <a:solidFill>
                  <a:srgbClr val="34D399"/>
                </a:solidFill>
                <a:latin typeface="Segoe UI"/>
              </a:defRPr>
            </a:pPr>
            <a:r>
              <a:t>10. Issue Field Advisory</a:t>
            </a:r>
          </a:p>
          <a:p>
            <a:pPr>
              <a:defRPr sz="950">
                <a:solidFill>
                  <a:srgbClr val="94A3B8"/>
                </a:solidFill>
                <a:latin typeface="Segoe UI"/>
              </a:defRPr>
            </a:pPr>
            <a:r>
              <a:t>Generates concrete dispatch orders for venue marshals.</a:t>
            </a:r>
          </a:p>
        </p:txBody>
      </p:sp>
      <p:sp>
        <p:nvSpPr>
          <p:cNvPr id="26" name="Rounded Rectangle 25"/>
          <p:cNvSpPr/>
          <p:nvPr/>
        </p:nvSpPr>
        <p:spPr>
          <a:xfrm>
            <a:off x="731520" y="5394960"/>
            <a:ext cx="10728655" cy="82296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440680"/>
            <a:ext cx="10332720" cy="731520"/>
          </a:xfrm>
          <a:prstGeom prst="rect">
            <a:avLst/>
          </a:prstGeom>
          <a:noFill/>
        </p:spPr>
        <p:txBody>
          <a:bodyPr wrap="square">
            <a:spAutoFit/>
          </a:bodyPr>
          <a:lstStyle/>
          <a:p>
            <a:pPr>
              <a:spcAft>
                <a:spcPts val="200"/>
              </a:spcAft>
              <a:defRPr sz="900" b="1">
                <a:solidFill>
                  <a:srgbClr val="38BDF8"/>
                </a:solidFill>
                <a:latin typeface="Consolas"/>
              </a:defRPr>
            </a:pPr>
            <a:r>
              <a:t>EXECUTION ARCHITECTURE HIGHLIGHT</a:t>
            </a:r>
          </a:p>
          <a:p>
            <a:pPr>
              <a:defRPr sz="950">
                <a:solidFill>
                  <a:srgbClr val="F8FAFC"/>
                </a:solidFill>
                <a:latin typeface="Segoe UI"/>
              </a:defRPr>
            </a:pPr>
            <a:r>
              <a:t>Steps 01-05 represent Continuous State Telemetry (60 FPS loop). Steps 06-10 represent the Active Intervention Cycle triggered upon threshold breach. Total recalculation time upon policy change: &lt; 50 milliseconds.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ARCHITECTURE | 3-TIER MODULAR SYSTEM</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High-Level System Architecture</a:t>
            </a:r>
          </a:p>
          <a:p>
            <a:pPr>
              <a:defRPr sz="1100">
                <a:solidFill>
                  <a:srgbClr val="94A3B8"/>
                </a:solidFill>
                <a:latin typeface="Segoe UI"/>
              </a:defRPr>
            </a:pPr>
            <a:r>
              <a:t>Modular separation of presentation, physics simulation, and scenario state.</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0728655" cy="11887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47088"/>
            <a:ext cx="2926080" cy="969264"/>
          </a:xfrm>
          <a:prstGeom prst="rect">
            <a:avLst/>
          </a:prstGeom>
          <a:noFill/>
        </p:spPr>
        <p:txBody>
          <a:bodyPr wrap="square">
            <a:spAutoFit/>
          </a:bodyPr>
          <a:lstStyle/>
          <a:p>
            <a:pPr>
              <a:defRPr sz="1000" b="1">
                <a:solidFill>
                  <a:srgbClr val="38BDF8"/>
                </a:solidFill>
                <a:latin typeface="Consolas"/>
              </a:defRPr>
            </a:pPr>
            <a:r>
              <a:t>TIER 1: PRESENTATION &amp; OPERATOR LAYER (UI)</a:t>
            </a:r>
          </a:p>
        </p:txBody>
      </p:sp>
      <p:sp>
        <p:nvSpPr>
          <p:cNvPr id="8" name="Rounded Rectangle 7"/>
          <p:cNvSpPr/>
          <p:nvPr/>
        </p:nvSpPr>
        <p:spPr>
          <a:xfrm>
            <a:off x="3931920" y="18470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86784" y="1883664"/>
            <a:ext cx="1627632" cy="896112"/>
          </a:xfrm>
          <a:prstGeom prst="rect">
            <a:avLst/>
          </a:prstGeom>
          <a:noFill/>
        </p:spPr>
        <p:txBody>
          <a:bodyPr wrap="square">
            <a:spAutoFit/>
          </a:bodyPr>
          <a:lstStyle/>
          <a:p>
            <a:pPr>
              <a:spcAft>
                <a:spcPts val="200"/>
              </a:spcAft>
              <a:defRPr sz="900" b="1">
                <a:solidFill>
                  <a:srgbClr val="F8FAFC"/>
                </a:solidFill>
                <a:latin typeface="Segoe UI"/>
              </a:defRPr>
            </a:pPr>
            <a:r>
              <a:t>Unified Command Platform</a:t>
            </a:r>
          </a:p>
          <a:p>
            <a:pPr>
              <a:defRPr sz="800">
                <a:solidFill>
                  <a:srgbClr val="94A3B8"/>
                </a:solidFill>
                <a:latin typeface="Segoe UI"/>
              </a:defRPr>
            </a:pPr>
            <a:r>
              <a:t>Main tactical dashboard interface</a:t>
            </a:r>
          </a:p>
        </p:txBody>
      </p:sp>
      <p:sp>
        <p:nvSpPr>
          <p:cNvPr id="10" name="Rounded Rectangle 9"/>
          <p:cNvSpPr/>
          <p:nvPr/>
        </p:nvSpPr>
        <p:spPr>
          <a:xfrm>
            <a:off x="5806439" y="18470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61303" y="1883664"/>
            <a:ext cx="1627632" cy="896112"/>
          </a:xfrm>
          <a:prstGeom prst="rect">
            <a:avLst/>
          </a:prstGeom>
          <a:noFill/>
        </p:spPr>
        <p:txBody>
          <a:bodyPr wrap="square">
            <a:spAutoFit/>
          </a:bodyPr>
          <a:lstStyle/>
          <a:p>
            <a:pPr>
              <a:spcAft>
                <a:spcPts val="200"/>
              </a:spcAft>
              <a:defRPr sz="900" b="1">
                <a:solidFill>
                  <a:srgbClr val="F8FAFC"/>
                </a:solidFill>
                <a:latin typeface="Segoe UI"/>
              </a:defRPr>
            </a:pPr>
            <a:r>
              <a:t>Digital Twin Canvas (60 FPS)</a:t>
            </a:r>
          </a:p>
          <a:p>
            <a:pPr>
              <a:defRPr sz="800">
                <a:solidFill>
                  <a:srgbClr val="94A3B8"/>
                </a:solidFill>
                <a:latin typeface="Segoe UI"/>
              </a:defRPr>
            </a:pPr>
            <a:r>
              <a:t>HTML5 2D particle &amp; heatmap rendering</a:t>
            </a:r>
          </a:p>
        </p:txBody>
      </p:sp>
      <p:sp>
        <p:nvSpPr>
          <p:cNvPr id="12" name="Rounded Rectangle 11"/>
          <p:cNvSpPr/>
          <p:nvPr/>
        </p:nvSpPr>
        <p:spPr>
          <a:xfrm>
            <a:off x="7680958" y="18470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35822" y="1883664"/>
            <a:ext cx="1627632" cy="896112"/>
          </a:xfrm>
          <a:prstGeom prst="rect">
            <a:avLst/>
          </a:prstGeom>
          <a:noFill/>
        </p:spPr>
        <p:txBody>
          <a:bodyPr wrap="square">
            <a:spAutoFit/>
          </a:bodyPr>
          <a:lstStyle/>
          <a:p>
            <a:pPr>
              <a:spcAft>
                <a:spcPts val="200"/>
              </a:spcAft>
              <a:defRPr sz="900" b="1">
                <a:solidFill>
                  <a:srgbClr val="F8FAFC"/>
                </a:solidFill>
                <a:latin typeface="Segoe UI"/>
              </a:defRPr>
            </a:pPr>
            <a:r>
              <a:t>Predictive Horizons Panel</a:t>
            </a:r>
          </a:p>
          <a:p>
            <a:pPr>
              <a:defRPr sz="800">
                <a:solidFill>
                  <a:srgbClr val="94A3B8"/>
                </a:solidFill>
                <a:latin typeface="Segoe UI"/>
              </a:defRPr>
            </a:pPr>
            <a:r>
              <a:t>Recharts density trajectories &amp; thresholds</a:t>
            </a:r>
          </a:p>
        </p:txBody>
      </p:sp>
      <p:sp>
        <p:nvSpPr>
          <p:cNvPr id="14" name="Rounded Rectangle 13"/>
          <p:cNvSpPr/>
          <p:nvPr/>
        </p:nvSpPr>
        <p:spPr>
          <a:xfrm>
            <a:off x="9555477" y="18470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10341" y="1883664"/>
            <a:ext cx="1627632" cy="896112"/>
          </a:xfrm>
          <a:prstGeom prst="rect">
            <a:avLst/>
          </a:prstGeom>
          <a:noFill/>
        </p:spPr>
        <p:txBody>
          <a:bodyPr wrap="square">
            <a:spAutoFit/>
          </a:bodyPr>
          <a:lstStyle/>
          <a:p>
            <a:pPr>
              <a:spcAft>
                <a:spcPts val="200"/>
              </a:spcAft>
              <a:defRPr sz="900" b="1">
                <a:solidFill>
                  <a:srgbClr val="F8FAFC"/>
                </a:solidFill>
                <a:latin typeface="Segoe UI"/>
              </a:defRPr>
            </a:pPr>
            <a:r>
              <a:t>What-If Control Sandbox</a:t>
            </a:r>
          </a:p>
          <a:p>
            <a:pPr>
              <a:defRPr sz="800">
                <a:solidFill>
                  <a:srgbClr val="94A3B8"/>
                </a:solidFill>
                <a:latin typeface="Segoe UI"/>
              </a:defRPr>
            </a:pPr>
            <a:r>
              <a:t>Intervention toggles &amp; Before/After analyzer</a:t>
            </a:r>
          </a:p>
        </p:txBody>
      </p:sp>
      <p:sp>
        <p:nvSpPr>
          <p:cNvPr id="16" name="Rounded Rectangle 15"/>
          <p:cNvSpPr/>
          <p:nvPr/>
        </p:nvSpPr>
        <p:spPr>
          <a:xfrm>
            <a:off x="731520" y="3108960"/>
            <a:ext cx="10728655" cy="118872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18688"/>
            <a:ext cx="2926080" cy="969264"/>
          </a:xfrm>
          <a:prstGeom prst="rect">
            <a:avLst/>
          </a:prstGeom>
          <a:noFill/>
        </p:spPr>
        <p:txBody>
          <a:bodyPr wrap="square">
            <a:spAutoFit/>
          </a:bodyPr>
          <a:lstStyle/>
          <a:p>
            <a:pPr>
              <a:defRPr sz="1000" b="1">
                <a:solidFill>
                  <a:srgbClr val="FBBF24"/>
                </a:solidFill>
                <a:latin typeface="Consolas"/>
              </a:defRPr>
            </a:pPr>
            <a:r>
              <a:t>TIER 2: APPLICATION &amp; PHYSICS LAYER (CORE ENGINES)</a:t>
            </a:r>
          </a:p>
        </p:txBody>
      </p:sp>
      <p:sp>
        <p:nvSpPr>
          <p:cNvPr id="18" name="Rounded Rectangle 17"/>
          <p:cNvSpPr/>
          <p:nvPr/>
        </p:nvSpPr>
        <p:spPr>
          <a:xfrm>
            <a:off x="3931920" y="32186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86784" y="3255264"/>
            <a:ext cx="1627632" cy="896112"/>
          </a:xfrm>
          <a:prstGeom prst="rect">
            <a:avLst/>
          </a:prstGeom>
          <a:noFill/>
        </p:spPr>
        <p:txBody>
          <a:bodyPr wrap="square">
            <a:spAutoFit/>
          </a:bodyPr>
          <a:lstStyle/>
          <a:p>
            <a:pPr>
              <a:spcAft>
                <a:spcPts val="200"/>
              </a:spcAft>
              <a:defRPr sz="900" b="1">
                <a:solidFill>
                  <a:srgbClr val="F8FAFC"/>
                </a:solidFill>
                <a:latin typeface="Segoe UI"/>
              </a:defRPr>
            </a:pPr>
            <a:r>
              <a:t>Digital Twin Engine</a:t>
            </a:r>
          </a:p>
          <a:p>
            <a:pPr>
              <a:defRPr sz="800">
                <a:solidFill>
                  <a:srgbClr val="94A3B8"/>
                </a:solidFill>
                <a:latin typeface="Segoe UI"/>
              </a:defRPr>
            </a:pPr>
            <a:r>
              <a:t>Zone boundaries, gate portals &amp; waypoint nodes</a:t>
            </a:r>
          </a:p>
        </p:txBody>
      </p:sp>
      <p:sp>
        <p:nvSpPr>
          <p:cNvPr id="20" name="Rounded Rectangle 19"/>
          <p:cNvSpPr/>
          <p:nvPr/>
        </p:nvSpPr>
        <p:spPr>
          <a:xfrm>
            <a:off x="5806439" y="32186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61303" y="3255264"/>
            <a:ext cx="1627632" cy="896112"/>
          </a:xfrm>
          <a:prstGeom prst="rect">
            <a:avLst/>
          </a:prstGeom>
          <a:noFill/>
        </p:spPr>
        <p:txBody>
          <a:bodyPr wrap="square">
            <a:spAutoFit/>
          </a:bodyPr>
          <a:lstStyle/>
          <a:p>
            <a:pPr>
              <a:spcAft>
                <a:spcPts val="200"/>
              </a:spcAft>
              <a:defRPr sz="900" b="1">
                <a:solidFill>
                  <a:srgbClr val="F8FAFC"/>
                </a:solidFill>
                <a:latin typeface="Segoe UI"/>
              </a:defRPr>
            </a:pPr>
            <a:r>
              <a:t>Simulation Engine (Social Force)</a:t>
            </a:r>
          </a:p>
          <a:p>
            <a:pPr>
              <a:defRPr sz="800">
                <a:solidFill>
                  <a:srgbClr val="94A3B8"/>
                </a:solidFill>
                <a:latin typeface="Segoe UI"/>
              </a:defRPr>
            </a:pPr>
            <a:r>
              <a:t>2D Helbing physics, repulsion &amp; steering</a:t>
            </a:r>
          </a:p>
        </p:txBody>
      </p:sp>
      <p:sp>
        <p:nvSpPr>
          <p:cNvPr id="22" name="Rounded Rectangle 21"/>
          <p:cNvSpPr/>
          <p:nvPr/>
        </p:nvSpPr>
        <p:spPr>
          <a:xfrm>
            <a:off x="7680958" y="32186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35822" y="3255264"/>
            <a:ext cx="1627632" cy="896112"/>
          </a:xfrm>
          <a:prstGeom prst="rect">
            <a:avLst/>
          </a:prstGeom>
          <a:noFill/>
        </p:spPr>
        <p:txBody>
          <a:bodyPr wrap="square">
            <a:spAutoFit/>
          </a:bodyPr>
          <a:lstStyle/>
          <a:p>
            <a:pPr>
              <a:spcAft>
                <a:spcPts val="200"/>
              </a:spcAft>
              <a:defRPr sz="900" b="1">
                <a:solidFill>
                  <a:srgbClr val="F8FAFC"/>
                </a:solidFill>
                <a:latin typeface="Segoe UI"/>
              </a:defRPr>
            </a:pPr>
            <a:r>
              <a:t>Risk &amp; Alert Engine</a:t>
            </a:r>
          </a:p>
          <a:p>
            <a:pPr>
              <a:defRPr sz="800">
                <a:solidFill>
                  <a:srgbClr val="94A3B8"/>
                </a:solidFill>
                <a:latin typeface="Segoe UI"/>
              </a:defRPr>
            </a:pPr>
            <a:r>
              <a:t>Capacity monitoring &amp; dynamic incident generator</a:t>
            </a:r>
          </a:p>
        </p:txBody>
      </p:sp>
      <p:sp>
        <p:nvSpPr>
          <p:cNvPr id="24" name="Rounded Rectangle 23"/>
          <p:cNvSpPr/>
          <p:nvPr/>
        </p:nvSpPr>
        <p:spPr>
          <a:xfrm>
            <a:off x="9555477" y="32186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10341" y="3255264"/>
            <a:ext cx="1627632" cy="896112"/>
          </a:xfrm>
          <a:prstGeom prst="rect">
            <a:avLst/>
          </a:prstGeom>
          <a:noFill/>
        </p:spPr>
        <p:txBody>
          <a:bodyPr wrap="square">
            <a:spAutoFit/>
          </a:bodyPr>
          <a:lstStyle/>
          <a:p>
            <a:pPr>
              <a:spcAft>
                <a:spcPts val="200"/>
              </a:spcAft>
              <a:defRPr sz="900" b="1">
                <a:solidFill>
                  <a:srgbClr val="F8FAFC"/>
                </a:solidFill>
                <a:latin typeface="Segoe UI"/>
              </a:defRPr>
            </a:pPr>
            <a:r>
              <a:t>Rerouting Engine</a:t>
            </a:r>
          </a:p>
          <a:p>
            <a:pPr>
              <a:defRPr sz="800">
                <a:solidFill>
                  <a:srgbClr val="94A3B8"/>
                </a:solidFill>
                <a:latin typeface="Segoe UI"/>
              </a:defRPr>
            </a:pPr>
            <a:r>
              <a:t>Dynamic waypoint divergence at choke thresholds</a:t>
            </a:r>
          </a:p>
        </p:txBody>
      </p:sp>
      <p:sp>
        <p:nvSpPr>
          <p:cNvPr id="26" name="Rounded Rectangle 25"/>
          <p:cNvSpPr/>
          <p:nvPr/>
        </p:nvSpPr>
        <p:spPr>
          <a:xfrm>
            <a:off x="731520" y="4480560"/>
            <a:ext cx="10728655" cy="11887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590288"/>
            <a:ext cx="2926080" cy="969264"/>
          </a:xfrm>
          <a:prstGeom prst="rect">
            <a:avLst/>
          </a:prstGeom>
          <a:noFill/>
        </p:spPr>
        <p:txBody>
          <a:bodyPr wrap="square">
            <a:spAutoFit/>
          </a:bodyPr>
          <a:lstStyle/>
          <a:p>
            <a:pPr>
              <a:defRPr sz="1000" b="1">
                <a:solidFill>
                  <a:srgbClr val="34D399"/>
                </a:solidFill>
                <a:latin typeface="Consolas"/>
              </a:defRPr>
            </a:pPr>
            <a:r>
              <a:t>TIER 3: DATA &amp; STATE LAYER</a:t>
            </a:r>
          </a:p>
        </p:txBody>
      </p:sp>
      <p:sp>
        <p:nvSpPr>
          <p:cNvPr id="28" name="Rounded Rectangle 27"/>
          <p:cNvSpPr/>
          <p:nvPr/>
        </p:nvSpPr>
        <p:spPr>
          <a:xfrm>
            <a:off x="3931920" y="45902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86784" y="4626864"/>
            <a:ext cx="1627632" cy="896112"/>
          </a:xfrm>
          <a:prstGeom prst="rect">
            <a:avLst/>
          </a:prstGeom>
          <a:noFill/>
        </p:spPr>
        <p:txBody>
          <a:bodyPr wrap="square">
            <a:spAutoFit/>
          </a:bodyPr>
          <a:lstStyle/>
          <a:p>
            <a:pPr>
              <a:spcAft>
                <a:spcPts val="200"/>
              </a:spcAft>
              <a:defRPr sz="900" b="1">
                <a:solidFill>
                  <a:srgbClr val="F8FAFC"/>
                </a:solidFill>
                <a:latin typeface="Segoe UI"/>
              </a:defRPr>
            </a:pPr>
            <a:r>
              <a:t>Scenario Configuration Store</a:t>
            </a:r>
          </a:p>
          <a:p>
            <a:pPr>
              <a:defRPr sz="800">
                <a:solidFill>
                  <a:srgbClr val="94A3B8"/>
                </a:solidFill>
                <a:latin typeface="Segoe UI"/>
              </a:defRPr>
            </a:pPr>
            <a:r>
              <a:t>Pre-configured venue metadata (venues.ts)</a:t>
            </a:r>
          </a:p>
        </p:txBody>
      </p:sp>
      <p:sp>
        <p:nvSpPr>
          <p:cNvPr id="30" name="Rounded Rectangle 29"/>
          <p:cNvSpPr/>
          <p:nvPr/>
        </p:nvSpPr>
        <p:spPr>
          <a:xfrm>
            <a:off x="5806439" y="45902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61303" y="4626864"/>
            <a:ext cx="1627632" cy="896112"/>
          </a:xfrm>
          <a:prstGeom prst="rect">
            <a:avLst/>
          </a:prstGeom>
          <a:noFill/>
        </p:spPr>
        <p:txBody>
          <a:bodyPr wrap="square">
            <a:spAutoFit/>
          </a:bodyPr>
          <a:lstStyle/>
          <a:p>
            <a:pPr>
              <a:spcAft>
                <a:spcPts val="200"/>
              </a:spcAft>
              <a:defRPr sz="900" b="1">
                <a:solidFill>
                  <a:srgbClr val="F8FAFC"/>
                </a:solidFill>
                <a:latin typeface="Segoe UI"/>
              </a:defRPr>
            </a:pPr>
            <a:r>
              <a:t>Reactive State Manager</a:t>
            </a:r>
          </a:p>
          <a:p>
            <a:pPr>
              <a:defRPr sz="800">
                <a:solidFill>
                  <a:srgbClr val="94A3B8"/>
                </a:solidFill>
                <a:latin typeface="Segoe UI"/>
              </a:defRPr>
            </a:pPr>
            <a:r>
              <a:t>React 19 hooks managing live telemetry state</a:t>
            </a:r>
          </a:p>
        </p:txBody>
      </p:sp>
      <p:sp>
        <p:nvSpPr>
          <p:cNvPr id="32" name="Rounded Rectangle 31"/>
          <p:cNvSpPr/>
          <p:nvPr/>
        </p:nvSpPr>
        <p:spPr>
          <a:xfrm>
            <a:off x="7680958" y="45902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35822" y="4626864"/>
            <a:ext cx="1627632" cy="896112"/>
          </a:xfrm>
          <a:prstGeom prst="rect">
            <a:avLst/>
          </a:prstGeom>
          <a:noFill/>
        </p:spPr>
        <p:txBody>
          <a:bodyPr wrap="square">
            <a:spAutoFit/>
          </a:bodyPr>
          <a:lstStyle/>
          <a:p>
            <a:pPr>
              <a:spcAft>
                <a:spcPts val="200"/>
              </a:spcAft>
              <a:defRPr sz="900" b="1">
                <a:solidFill>
                  <a:srgbClr val="F8FAFC"/>
                </a:solidFill>
                <a:latin typeface="Segoe UI"/>
              </a:defRPr>
            </a:pPr>
            <a:r>
              <a:t>Dynamic Telemetry Buffers</a:t>
            </a:r>
          </a:p>
          <a:p>
            <a:pPr>
              <a:defRPr sz="800">
                <a:solidFill>
                  <a:srgbClr val="94A3B8"/>
                </a:solidFill>
                <a:latin typeface="Segoe UI"/>
              </a:defRPr>
            </a:pPr>
            <a:r>
              <a:t>Rolling densities, flow speeds &amp; discharge rates</a:t>
            </a:r>
          </a:p>
        </p:txBody>
      </p:sp>
      <p:sp>
        <p:nvSpPr>
          <p:cNvPr id="34" name="Rounded Rectangle 33"/>
          <p:cNvSpPr/>
          <p:nvPr/>
        </p:nvSpPr>
        <p:spPr>
          <a:xfrm>
            <a:off x="9555477" y="4590288"/>
            <a:ext cx="1737360" cy="969264"/>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1" y="4626864"/>
            <a:ext cx="1627632" cy="896112"/>
          </a:xfrm>
          <a:prstGeom prst="rect">
            <a:avLst/>
          </a:prstGeom>
          <a:noFill/>
        </p:spPr>
        <p:txBody>
          <a:bodyPr wrap="square">
            <a:spAutoFit/>
          </a:bodyPr>
          <a:lstStyle/>
          <a:p>
            <a:pPr>
              <a:spcAft>
                <a:spcPts val="200"/>
              </a:spcAft>
              <a:defRPr sz="900" b="1">
                <a:solidFill>
                  <a:srgbClr val="F8FAFC"/>
                </a:solidFill>
                <a:latin typeface="Segoe UI"/>
              </a:defRPr>
            </a:pPr>
            <a:r>
              <a:t>Copilot Advisory Rulebase</a:t>
            </a:r>
          </a:p>
          <a:p>
            <a:pPr>
              <a:defRPr sz="800">
                <a:solidFill>
                  <a:srgbClr val="94A3B8"/>
                </a:solidFill>
                <a:latin typeface="Segoe UI"/>
              </a:defRPr>
            </a:pPr>
            <a:r>
              <a:t>Contextual operational tactical advisories</a:t>
            </a:r>
          </a:p>
        </p:txBody>
      </p:sp>
      <p:sp>
        <p:nvSpPr>
          <p:cNvPr id="36" name="Rounded Rectangle 35"/>
          <p:cNvSpPr/>
          <p:nvPr/>
        </p:nvSpPr>
        <p:spPr>
          <a:xfrm>
            <a:off x="731520" y="4526280"/>
            <a:ext cx="5266944" cy="1691640"/>
          </a:xfrm>
          <a:prstGeom prst="roundRect">
            <a:avLst/>
          </a:prstGeom>
          <a:solidFill>
            <a:srgbClr val="10172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4636008"/>
            <a:ext cx="4901184" cy="1472184"/>
          </a:xfrm>
          <a:prstGeom prst="rect">
            <a:avLst/>
          </a:prstGeom>
          <a:noFill/>
        </p:spPr>
        <p:txBody>
          <a:bodyPr wrap="square">
            <a:spAutoFit/>
          </a:bodyPr>
          <a:lstStyle/>
          <a:p>
            <a:pPr>
              <a:spcAft>
                <a:spcPts val="400"/>
              </a:spcAft>
              <a:defRPr sz="1000" b="1">
                <a:solidFill>
                  <a:srgbClr val="38BDF8"/>
                </a:solidFill>
                <a:latin typeface="Consolas"/>
              </a:defRPr>
            </a:pPr>
            <a:r>
              <a:t>CURRENT WORKING PROTOTYPE (SOFTWARE-FIRST)</a:t>
            </a:r>
          </a:p>
          <a:p>
            <a:pPr>
              <a:spcAft>
                <a:spcPts val="200"/>
              </a:spcAft>
              <a:defRPr sz="950">
                <a:solidFill>
                  <a:srgbClr val="F8FAFC"/>
                </a:solidFill>
                <a:latin typeface="Segoe UI"/>
              </a:defRPr>
            </a:pPr>
            <a:r>
              <a:t>• In-Memory Reactive Architecture (React 19 + TypeScript)</a:t>
            </a:r>
          </a:p>
          <a:p>
            <a:pPr>
              <a:spcAft>
                <a:spcPts val="200"/>
              </a:spcAft>
              <a:defRPr sz="950">
                <a:solidFill>
                  <a:srgbClr val="F8FAFC"/>
                </a:solidFill>
                <a:latin typeface="Segoe UI"/>
              </a:defRPr>
            </a:pPr>
            <a:r>
              <a:t>• Zero-Latency Client-Side Simulation (No backend bottleneck)</a:t>
            </a:r>
          </a:p>
          <a:p>
            <a:pPr>
              <a:spcAft>
                <a:spcPts val="200"/>
              </a:spcAft>
              <a:defRPr sz="950">
                <a:solidFill>
                  <a:srgbClr val="F8FAFC"/>
                </a:solidFill>
                <a:latin typeface="Segoe UI"/>
              </a:defRPr>
            </a:pPr>
            <a:r>
              <a:t>• Deterministic Social Force Pedestrian Fluid Physics</a:t>
            </a:r>
          </a:p>
          <a:p>
            <a:pPr>
              <a:spcAft>
                <a:spcPts val="200"/>
              </a:spcAft>
              <a:defRPr sz="950">
                <a:solidFill>
                  <a:srgbClr val="F8FAFC"/>
                </a:solidFill>
                <a:latin typeface="Segoe UI"/>
              </a:defRPr>
            </a:pPr>
            <a:r>
              <a:t>• Interactive What-If Sandbox with Instant Dual-Twin Comparison</a:t>
            </a:r>
          </a:p>
        </p:txBody>
      </p:sp>
      <p:sp>
        <p:nvSpPr>
          <p:cNvPr id="38" name="Rounded Rectangle 37"/>
          <p:cNvSpPr/>
          <p:nvPr/>
        </p:nvSpPr>
        <p:spPr>
          <a:xfrm>
            <a:off x="6190488" y="4526280"/>
            <a:ext cx="5266944" cy="1691640"/>
          </a:xfrm>
          <a:prstGeom prst="roundRect">
            <a:avLst/>
          </a:prstGeom>
          <a:solidFill>
            <a:srgbClr val="1017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3368" y="4636008"/>
            <a:ext cx="4901184" cy="1472184"/>
          </a:xfrm>
          <a:prstGeom prst="rect">
            <a:avLst/>
          </a:prstGeom>
          <a:noFill/>
        </p:spPr>
        <p:txBody>
          <a:bodyPr wrap="square">
            <a:spAutoFit/>
          </a:bodyPr>
          <a:lstStyle/>
          <a:p>
            <a:pPr>
              <a:spcAft>
                <a:spcPts val="400"/>
              </a:spcAft>
              <a:defRPr sz="1000" b="1">
                <a:solidFill>
                  <a:srgbClr val="FBBF24"/>
                </a:solidFill>
                <a:latin typeface="Consolas"/>
              </a:defRPr>
            </a:pPr>
            <a:r>
              <a:t>FUTURE AI / IoT / BACKEND EXTENSIONS (ROADMAP)</a:t>
            </a:r>
          </a:p>
          <a:p>
            <a:pPr>
              <a:spcAft>
                <a:spcPts val="200"/>
              </a:spcAft>
              <a:defRPr sz="950">
                <a:solidFill>
                  <a:srgbClr val="94A3B8"/>
                </a:solidFill>
                <a:latin typeface="Segoe UI"/>
              </a:defRPr>
            </a:pPr>
            <a:r>
              <a:t>• CCTV Video Ingestion via Edge YOLOv8 / ByteTrack Models</a:t>
            </a:r>
          </a:p>
          <a:p>
            <a:pPr>
              <a:spcAft>
                <a:spcPts val="200"/>
              </a:spcAft>
              <a:defRPr sz="950">
                <a:solidFill>
                  <a:srgbClr val="94A3B8"/>
                </a:solidFill>
                <a:latin typeface="Segoe UI"/>
              </a:defRPr>
            </a:pPr>
            <a:r>
              <a:t>• Hardware IoT Turnstiles &amp; LiDAR Headcount Feeds</a:t>
            </a:r>
          </a:p>
          <a:p>
            <a:pPr>
              <a:spcAft>
                <a:spcPts val="200"/>
              </a:spcAft>
              <a:defRPr sz="950">
                <a:solidFill>
                  <a:srgbClr val="94A3B8"/>
                </a:solidFill>
                <a:latin typeface="Segoe UI"/>
              </a:defRPr>
            </a:pPr>
            <a:r>
              <a:t>• PostgreSQL / Redis High-Throughput Telemetry Database</a:t>
            </a:r>
          </a:p>
          <a:p>
            <a:pPr>
              <a:spcAft>
                <a:spcPts val="200"/>
              </a:spcAft>
              <a:defRPr sz="950">
                <a:solidFill>
                  <a:srgbClr val="94A3B8"/>
                </a:solidFill>
                <a:latin typeface="Segoe UI"/>
              </a:defRPr>
            </a:pPr>
            <a:r>
              <a:t>• Deep Learning Time-Series Inflow Prediction (LSTM / GRU)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TECHNICAL STACK | VERIFIED REPOSITORY INSPECTION</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Technology Stack &amp; Implementation Reality</a:t>
            </a:r>
          </a:p>
          <a:p>
            <a:pPr>
              <a:defRPr sz="1100">
                <a:solidFill>
                  <a:srgbClr val="94A3B8"/>
                </a:solidFill>
                <a:latin typeface="Segoe UI"/>
              </a:defRPr>
            </a:pPr>
            <a:r>
              <a:t>Strict alignment with verified dependencies in the CROWDGUARD X repository.</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2542032"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883664"/>
            <a:ext cx="2286000" cy="4096512"/>
          </a:xfrm>
          <a:prstGeom prst="rect">
            <a:avLst/>
          </a:prstGeom>
          <a:noFill/>
        </p:spPr>
        <p:txBody>
          <a:bodyPr wrap="square">
            <a:spAutoFit/>
          </a:bodyPr>
          <a:lstStyle/>
          <a:p>
            <a:pPr>
              <a:spcAft>
                <a:spcPts val="1000"/>
              </a:spcAft>
              <a:defRPr sz="1000" b="1">
                <a:solidFill>
                  <a:srgbClr val="38BDF8"/>
                </a:solidFill>
                <a:latin typeface="Consolas"/>
              </a:defRPr>
            </a:pPr>
            <a:r>
              <a:t>CORE FRONTEND &amp; TYPES</a:t>
            </a:r>
          </a:p>
          <a:p>
            <a:pPr>
              <a:spcAft>
                <a:spcPts val="400"/>
              </a:spcAft>
            </a:pPr>
            <a:r>
              <a:rPr b="1" sz="1000">
                <a:solidFill>
                  <a:srgbClr val="F8FAFC"/>
                </a:solidFill>
              </a:rPr>
              <a:t>React 19.2.8
</a:t>
            </a:r>
            <a:r>
              <a:rPr sz="850">
                <a:solidFill>
                  <a:srgbClr val="94A3B8"/>
                </a:solidFill>
              </a:rPr>
              <a:t>Modern hooks architecture for reactive state management
</a:t>
            </a:r>
          </a:p>
          <a:p>
            <a:pPr>
              <a:spcAft>
                <a:spcPts val="400"/>
              </a:spcAft>
            </a:pPr>
            <a:r>
              <a:rPr b="1" sz="1000">
                <a:solidFill>
                  <a:srgbClr val="F8FAFC"/>
                </a:solidFill>
              </a:rPr>
              <a:t>TypeScript 6.0
</a:t>
            </a:r>
            <a:r>
              <a:rPr sz="850">
                <a:solidFill>
                  <a:srgbClr val="94A3B8"/>
                </a:solidFill>
              </a:rPr>
              <a:t>Strict end-to-end type safety across agents and venues
</a:t>
            </a:r>
          </a:p>
          <a:p>
            <a:pPr>
              <a:spcAft>
                <a:spcPts val="400"/>
              </a:spcAft>
            </a:pPr>
            <a:r>
              <a:rPr b="1" sz="1000">
                <a:solidFill>
                  <a:srgbClr val="F8FAFC"/>
                </a:solidFill>
              </a:rPr>
              <a:t>HTML5 Canvas 2D API
</a:t>
            </a:r>
            <a:r>
              <a:rPr sz="850">
                <a:solidFill>
                  <a:srgbClr val="94A3B8"/>
                </a:solidFill>
              </a:rPr>
              <a:t>60 FPS hardware-accelerated crowd particle rendering
</a:t>
            </a:r>
          </a:p>
          <a:p>
            <a:pPr>
              <a:spcAft>
                <a:spcPts val="400"/>
              </a:spcAft>
            </a:pPr>
            <a:r>
              <a:rPr b="1" sz="1000">
                <a:solidFill>
                  <a:srgbClr val="F8FAFC"/>
                </a:solidFill>
              </a:rPr>
              <a:t>Vite 8.3.0
</a:t>
            </a:r>
            <a:r>
              <a:rPr sz="850">
                <a:solidFill>
                  <a:srgbClr val="94A3B8"/>
                </a:solidFill>
              </a:rPr>
              <a:t>Next-gen lightning-fast dev server and optimized bundler
</a:t>
            </a:r>
          </a:p>
        </p:txBody>
      </p:sp>
      <p:sp>
        <p:nvSpPr>
          <p:cNvPr id="8" name="Rounded Rectangle 7"/>
          <p:cNvSpPr/>
          <p:nvPr/>
        </p:nvSpPr>
        <p:spPr>
          <a:xfrm>
            <a:off x="3456432" y="1737360"/>
            <a:ext cx="2542032"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883664"/>
            <a:ext cx="2286000" cy="4096512"/>
          </a:xfrm>
          <a:prstGeom prst="rect">
            <a:avLst/>
          </a:prstGeom>
          <a:noFill/>
        </p:spPr>
        <p:txBody>
          <a:bodyPr wrap="square">
            <a:spAutoFit/>
          </a:bodyPr>
          <a:lstStyle/>
          <a:p>
            <a:pPr>
              <a:spcAft>
                <a:spcPts val="1000"/>
              </a:spcAft>
              <a:defRPr sz="1000" b="1">
                <a:solidFill>
                  <a:srgbClr val="38BDF8"/>
                </a:solidFill>
                <a:latin typeface="Consolas"/>
              </a:defRPr>
            </a:pPr>
            <a:r>
              <a:t>STYLING &amp; VISUALIZATION</a:t>
            </a:r>
          </a:p>
          <a:p>
            <a:pPr>
              <a:spcAft>
                <a:spcPts val="400"/>
              </a:spcAft>
            </a:pPr>
            <a:r>
              <a:rPr b="1" sz="1000">
                <a:solidFill>
                  <a:srgbClr val="F8FAFC"/>
                </a:solidFill>
              </a:rPr>
              <a:t>Tailwind CSS v4.3.3
</a:t>
            </a:r>
            <a:r>
              <a:rPr sz="850">
                <a:solidFill>
                  <a:srgbClr val="94A3B8"/>
                </a:solidFill>
              </a:rPr>
              <a:t>Modern utility-first styling for dark command-center UI
</a:t>
            </a:r>
          </a:p>
          <a:p>
            <a:pPr>
              <a:spcAft>
                <a:spcPts val="400"/>
              </a:spcAft>
            </a:pPr>
            <a:r>
              <a:rPr b="1" sz="1000">
                <a:solidFill>
                  <a:srgbClr val="F8FAFC"/>
                </a:solidFill>
              </a:rPr>
              <a:t>Recharts 3.10.1
</a:t>
            </a:r>
            <a:r>
              <a:rPr sz="850">
                <a:solidFill>
                  <a:srgbClr val="94A3B8"/>
                </a:solidFill>
              </a:rPr>
              <a:t>AreaChart predictive density horizons and threshold lines
</a:t>
            </a:r>
          </a:p>
          <a:p>
            <a:pPr>
              <a:spcAft>
                <a:spcPts val="400"/>
              </a:spcAft>
            </a:pPr>
            <a:r>
              <a:rPr b="1" sz="1000">
                <a:solidFill>
                  <a:srgbClr val="F8FAFC"/>
                </a:solidFill>
              </a:rPr>
              <a:t>Lucide React 1.48
</a:t>
            </a:r>
            <a:r>
              <a:rPr sz="850">
                <a:solidFill>
                  <a:srgbClr val="94A3B8"/>
                </a:solidFill>
              </a:rPr>
              <a:t>Tactical situational and navigation iconography
</a:t>
            </a:r>
          </a:p>
          <a:p>
            <a:pPr>
              <a:spcAft>
                <a:spcPts val="400"/>
              </a:spcAft>
            </a:pPr>
            <a:r>
              <a:rPr b="1" sz="1000">
                <a:solidFill>
                  <a:srgbClr val="F8FAFC"/>
                </a:solidFill>
              </a:rPr>
              <a:t>Canvas-Confetti 1.9.4
</a:t>
            </a:r>
            <a:r>
              <a:rPr sz="850">
                <a:solidFill>
                  <a:srgbClr val="94A3B8"/>
                </a:solidFill>
              </a:rPr>
              <a:t>Interactive micro-interaction feedback triggers
</a:t>
            </a:r>
          </a:p>
        </p:txBody>
      </p:sp>
      <p:sp>
        <p:nvSpPr>
          <p:cNvPr id="10" name="Rounded Rectangle 9"/>
          <p:cNvSpPr/>
          <p:nvPr/>
        </p:nvSpPr>
        <p:spPr>
          <a:xfrm>
            <a:off x="6181344" y="1737360"/>
            <a:ext cx="2542032" cy="43891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883664"/>
            <a:ext cx="2286000" cy="4096512"/>
          </a:xfrm>
          <a:prstGeom prst="rect">
            <a:avLst/>
          </a:prstGeom>
          <a:noFill/>
        </p:spPr>
        <p:txBody>
          <a:bodyPr wrap="square">
            <a:spAutoFit/>
          </a:bodyPr>
          <a:lstStyle/>
          <a:p>
            <a:pPr>
              <a:spcAft>
                <a:spcPts val="1000"/>
              </a:spcAft>
              <a:defRPr sz="1000" b="1">
                <a:solidFill>
                  <a:srgbClr val="34D399"/>
                </a:solidFill>
                <a:latin typeface="Consolas"/>
              </a:defRPr>
            </a:pPr>
            <a:r>
              <a:t>TOOLING &amp; ARCHITECTURE</a:t>
            </a:r>
          </a:p>
          <a:p>
            <a:pPr>
              <a:spcAft>
                <a:spcPts val="400"/>
              </a:spcAft>
            </a:pPr>
            <a:r>
              <a:rPr b="1" sz="1000">
                <a:solidFill>
                  <a:srgbClr val="F8FAFC"/>
                </a:solidFill>
              </a:rPr>
              <a:t>Oxlint 1.81.0
</a:t>
            </a:r>
            <a:r>
              <a:rPr sz="850">
                <a:solidFill>
                  <a:srgbClr val="94A3B8"/>
                </a:solidFill>
              </a:rPr>
              <a:t>Ultra-fast Rust-based linter enforcing clean code quality
</a:t>
            </a:r>
          </a:p>
          <a:p>
            <a:pPr>
              <a:spcAft>
                <a:spcPts val="400"/>
              </a:spcAft>
            </a:pPr>
            <a:r>
              <a:rPr b="1" sz="1000">
                <a:solidFill>
                  <a:srgbClr val="F8FAFC"/>
                </a:solidFill>
              </a:rPr>
              <a:t>PostCSS &amp; Autoprefixer
</a:t>
            </a:r>
            <a:r>
              <a:rPr sz="850">
                <a:solidFill>
                  <a:srgbClr val="94A3B8"/>
                </a:solidFill>
              </a:rPr>
              <a:t>Cross-browser CSS layout compatibility
</a:t>
            </a:r>
          </a:p>
          <a:p>
            <a:pPr>
              <a:spcAft>
                <a:spcPts val="400"/>
              </a:spcAft>
            </a:pPr>
            <a:r>
              <a:rPr b="1" sz="1000">
                <a:solidFill>
                  <a:srgbClr val="F8FAFC"/>
                </a:solidFill>
              </a:rPr>
              <a:t>In-Memory State Engine
</a:t>
            </a:r>
            <a:r>
              <a:rPr sz="850">
                <a:solidFill>
                  <a:srgbClr val="94A3B8"/>
                </a:solidFill>
              </a:rPr>
              <a:t>Zero-latency reactive state without network bottlenecks
</a:t>
            </a:r>
          </a:p>
          <a:p>
            <a:pPr>
              <a:spcAft>
                <a:spcPts val="400"/>
              </a:spcAft>
            </a:pPr>
            <a:r>
              <a:rPr b="1" sz="1000">
                <a:solidFill>
                  <a:srgbClr val="F8FAFC"/>
                </a:solidFill>
              </a:rPr>
              <a:t>Helbing Social Force
</a:t>
            </a:r>
            <a:r>
              <a:rPr sz="850">
                <a:solidFill>
                  <a:srgbClr val="94A3B8"/>
                </a:solidFill>
              </a:rPr>
              <a:t>Deterministic 2D pedestrian repulsion &amp; friction physics
</a:t>
            </a:r>
          </a:p>
        </p:txBody>
      </p:sp>
      <p:sp>
        <p:nvSpPr>
          <p:cNvPr id="12" name="Rounded Rectangle 11"/>
          <p:cNvSpPr/>
          <p:nvPr/>
        </p:nvSpPr>
        <p:spPr>
          <a:xfrm>
            <a:off x="8906256" y="1737360"/>
            <a:ext cx="2542032" cy="438912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34272" y="1883664"/>
            <a:ext cx="2286000" cy="4096512"/>
          </a:xfrm>
          <a:prstGeom prst="rect">
            <a:avLst/>
          </a:prstGeom>
          <a:noFill/>
        </p:spPr>
        <p:txBody>
          <a:bodyPr wrap="square">
            <a:spAutoFit/>
          </a:bodyPr>
          <a:lstStyle/>
          <a:p>
            <a:pPr>
              <a:spcAft>
                <a:spcPts val="1000"/>
              </a:spcAft>
              <a:defRPr sz="1000" b="1">
                <a:solidFill>
                  <a:srgbClr val="FBBF24"/>
                </a:solidFill>
                <a:latin typeface="Consolas"/>
              </a:defRPr>
            </a:pPr>
            <a:r>
              <a:t>HONESTY &amp; SCOPE DISTINCTION</a:t>
            </a:r>
          </a:p>
          <a:p>
            <a:pPr>
              <a:spcAft>
                <a:spcPts val="400"/>
              </a:spcAft>
            </a:pPr>
            <a:r>
              <a:rPr b="1" sz="1000">
                <a:solidFill>
                  <a:srgbClr val="F8FAFC"/>
                </a:solidFill>
              </a:rPr>
              <a:t>NO Fake Python Backend
</a:t>
            </a:r>
            <a:r>
              <a:rPr sz="850">
                <a:solidFill>
                  <a:srgbClr val="94A3B8"/>
                </a:solidFill>
              </a:rPr>
              <a:t>Current simulation runs in-engine; no pseudo Flask/FastAPI
</a:t>
            </a:r>
          </a:p>
          <a:p>
            <a:pPr>
              <a:spcAft>
                <a:spcPts val="400"/>
              </a:spcAft>
            </a:pPr>
            <a:r>
              <a:rPr b="1" sz="1000">
                <a:solidFill>
                  <a:srgbClr val="F8FAFC"/>
                </a:solidFill>
              </a:rPr>
              <a:t>NO Fake PyTorch / OpenCV
</a:t>
            </a:r>
            <a:r>
              <a:rPr sz="850">
                <a:solidFill>
                  <a:srgbClr val="94A3B8"/>
                </a:solidFill>
              </a:rPr>
              <a:t>CCTV head detection is simulated; ML vision is future scope
</a:t>
            </a:r>
          </a:p>
          <a:p>
            <a:pPr>
              <a:spcAft>
                <a:spcPts val="400"/>
              </a:spcAft>
            </a:pPr>
            <a:r>
              <a:rPr b="1" sz="1000">
                <a:solidFill>
                  <a:srgbClr val="F8FAFC"/>
                </a:solidFill>
              </a:rPr>
              <a:t>NO Fake Cloud DBs
</a:t>
            </a:r>
            <a:r>
              <a:rPr sz="850">
                <a:solidFill>
                  <a:srgbClr val="94A3B8"/>
                </a:solidFill>
              </a:rPr>
              <a:t>State is client-managed for instantaneous What-If responsiveness
</a:t>
            </a:r>
          </a:p>
          <a:p>
            <a:pPr>
              <a:spcAft>
                <a:spcPts val="400"/>
              </a:spcAft>
            </a:pPr>
            <a:r>
              <a:rPr b="1" sz="1000">
                <a:solidFill>
                  <a:srgbClr val="F8FAFC"/>
                </a:solidFill>
              </a:rPr>
              <a:t>Software-First Prototype
</a:t>
            </a:r>
            <a:r>
              <a:rPr sz="850">
                <a:solidFill>
                  <a:srgbClr val="94A3B8"/>
                </a:solidFill>
              </a:rPr>
              <a:t>Built to validate algorithmic logic before hardware integration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DIGITAL TWIN | SPATIAL REPRESENTATION</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Digital Twin Architecture: Virtual Venue Representation</a:t>
            </a:r>
          </a:p>
          <a:p>
            <a:pPr>
              <a:defRPr sz="1100">
                <a:solidFill>
                  <a:srgbClr val="94A3B8"/>
                </a:solidFill>
                <a:latin typeface="Segoe UI"/>
              </a:defRPr>
            </a:pPr>
            <a:r>
              <a:t>Translating physical venue geography into interactive computational nodes.</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12064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754880" cy="4114800"/>
          </a:xfrm>
          <a:prstGeom prst="rect">
            <a:avLst/>
          </a:prstGeom>
          <a:noFill/>
        </p:spPr>
        <p:txBody>
          <a:bodyPr wrap="square">
            <a:spAutoFit/>
          </a:bodyPr>
          <a:lstStyle/>
          <a:p>
            <a:pPr>
              <a:spcAft>
                <a:spcPts val="800"/>
              </a:spcAft>
              <a:defRPr sz="1050" b="1">
                <a:solidFill>
                  <a:srgbClr val="38BDF8"/>
                </a:solidFill>
                <a:latin typeface="Consolas"/>
              </a:defRPr>
            </a:pPr>
            <a:r>
              <a:t>WHAT DIGITAL TWIN MEANS IN CROWDGUARD X</a:t>
            </a:r>
          </a:p>
          <a:p>
            <a:pPr>
              <a:spcAft>
                <a:spcPts val="600"/>
              </a:spcAft>
            </a:pPr>
            <a:r>
              <a:rPr b="1" sz="1000">
                <a:solidFill>
                  <a:srgbClr val="F8FAFC"/>
                </a:solidFill>
              </a:rPr>
              <a:t>1. Real Venue Geography: </a:t>
            </a:r>
            <a:r>
              <a:rPr sz="950">
                <a:solidFill>
                  <a:srgbClr val="94A3B8"/>
                </a:solidFill>
              </a:rPr>
              <a:t>Spatial floor plan, boundary perimeters, entrance portals, and egress turnstiles.</a:t>
            </a:r>
          </a:p>
          <a:p>
            <a:pPr>
              <a:spcAft>
                <a:spcPts val="600"/>
              </a:spcAft>
            </a:pPr>
            <a:r>
              <a:rPr b="1" sz="1000">
                <a:solidFill>
                  <a:srgbClr val="F8FAFC"/>
                </a:solidFill>
              </a:rPr>
              <a:t>2. Geometric Graph Decomposition: </a:t>
            </a:r>
            <a:r>
              <a:rPr sz="950">
                <a:solidFill>
                  <a:srgbClr val="94A3B8"/>
                </a:solidFill>
              </a:rPr>
              <a:t>Venue is segmented into functional Zone Nodes (Zone A, B, C, D, Exit) with strict physical capacities.</a:t>
            </a:r>
          </a:p>
          <a:p>
            <a:pPr>
              <a:spcAft>
                <a:spcPts val="600"/>
              </a:spcAft>
            </a:pPr>
            <a:r>
              <a:rPr b="1" sz="1000">
                <a:solidFill>
                  <a:srgbClr val="F8FAFC"/>
                </a:solidFill>
              </a:rPr>
              <a:t>3. Portal &amp; Flow Constraints: </a:t>
            </a:r>
            <a:r>
              <a:rPr sz="950">
                <a:solidFill>
                  <a:srgbClr val="94A3B8"/>
                </a:solidFill>
              </a:rPr>
              <a:t>Gates G1-G4 parameterized with real-world discharge rates (people per minute).</a:t>
            </a:r>
          </a:p>
          <a:p>
            <a:pPr>
              <a:spcAft>
                <a:spcPts val="600"/>
              </a:spcAft>
            </a:pPr>
            <a:r>
              <a:rPr b="1" sz="1000">
                <a:solidFill>
                  <a:srgbClr val="F8FAFC"/>
                </a:solidFill>
              </a:rPr>
              <a:t>4. Autonomous Pedestrian Dynamics: </a:t>
            </a:r>
            <a:r>
              <a:rPr sz="950">
                <a:solidFill>
                  <a:srgbClr val="94A3B8"/>
                </a:solidFill>
              </a:rPr>
              <a:t>Agents dynamically follow vector waypoints while calculating personal space repulsion.</a:t>
            </a:r>
          </a:p>
          <a:p>
            <a:pPr>
              <a:spcAft>
                <a:spcPts val="600"/>
              </a:spcAft>
            </a:pPr>
            <a:r>
              <a:rPr b="1" sz="1000">
                <a:solidFill>
                  <a:srgbClr val="F8FAFC"/>
                </a:solidFill>
              </a:rPr>
              <a:t>5. Live State Mirroring: </a:t>
            </a:r>
            <a:r>
              <a:rPr sz="950">
                <a:solidFill>
                  <a:srgbClr val="94A3B8"/>
                </a:solidFill>
              </a:rPr>
              <a:t>Reflects real-time density %, velocity changes, and bottleneck status in the visual command center.</a:t>
            </a:r>
          </a:p>
        </p:txBody>
      </p:sp>
      <p:sp>
        <p:nvSpPr>
          <p:cNvPr id="8" name="Rounded Rectangle 7"/>
          <p:cNvSpPr/>
          <p:nvPr/>
        </p:nvSpPr>
        <p:spPr>
          <a:xfrm>
            <a:off x="6035040" y="1737360"/>
            <a:ext cx="5425135" cy="43891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874519"/>
            <a:ext cx="5029200" cy="4114800"/>
          </a:xfrm>
          <a:prstGeom prst="rect">
            <a:avLst/>
          </a:prstGeom>
          <a:noFill/>
        </p:spPr>
        <p:txBody>
          <a:bodyPr wrap="square">
            <a:spAutoFit/>
          </a:bodyPr>
          <a:lstStyle/>
          <a:p>
            <a:pPr>
              <a:spcAft>
                <a:spcPts val="600"/>
              </a:spcAft>
              <a:defRPr sz="1050" b="1">
                <a:solidFill>
                  <a:srgbClr val="FBBF24"/>
                </a:solidFill>
                <a:latin typeface="Consolas"/>
              </a:defRPr>
            </a:pPr>
            <a:r>
              <a:t>EXEMPLAR: KASHI VISHWANATH DHAM CORRIDOR</a:t>
            </a:r>
          </a:p>
          <a:p>
            <a:pPr>
              <a:spcAft>
                <a:spcPts val="200"/>
              </a:spcAft>
            </a:pPr>
            <a:r>
              <a:rPr b="1" sz="950">
                <a:solidFill>
                  <a:srgbClr val="F8FAFC"/>
                </a:solidFill>
              </a:rPr>
              <a:t>• Zone A (North Gopuram Approach): </a:t>
            </a:r>
            <a:r>
              <a:rPr sz="950">
                <a:solidFill>
                  <a:srgbClr val="38BDF8"/>
                </a:solidFill>
              </a:rPr>
              <a:t>Capacity: 15,000 | Density: 24% | Status: Low / Safe</a:t>
            </a:r>
          </a:p>
          <a:p>
            <a:pPr>
              <a:spcAft>
                <a:spcPts val="200"/>
              </a:spcAft>
            </a:pPr>
            <a:r>
              <a:rPr b="1" sz="950">
                <a:solidFill>
                  <a:srgbClr val="F8FAFC"/>
                </a:solidFill>
              </a:rPr>
              <a:t>• Zone B (Sanctum &amp; Garbhagriha): </a:t>
            </a:r>
            <a:r>
              <a:rPr sz="950">
                <a:solidFill>
                  <a:srgbClr val="F87171"/>
                </a:solidFill>
              </a:rPr>
              <a:t>Capacity: 25,000 | Density: 88% | Status: CRITICAL CHOKE</a:t>
            </a:r>
          </a:p>
          <a:p>
            <a:pPr>
              <a:spcAft>
                <a:spcPts val="200"/>
              </a:spcAft>
            </a:pPr>
            <a:r>
              <a:rPr b="1" sz="950">
                <a:solidFill>
                  <a:srgbClr val="F8FAFC"/>
                </a:solidFill>
              </a:rPr>
              <a:t>• Zone C (Parikrama Courtyard): </a:t>
            </a:r>
            <a:r>
              <a:rPr sz="950">
                <a:solidFill>
                  <a:srgbClr val="FBBF24"/>
                </a:solidFill>
              </a:rPr>
              <a:t>Capacity: 18,000 | Density: 54% | Status: Medium Load</a:t>
            </a:r>
          </a:p>
          <a:p>
            <a:pPr>
              <a:spcAft>
                <a:spcPts val="200"/>
              </a:spcAft>
            </a:pPr>
            <a:r>
              <a:rPr b="1" sz="950">
                <a:solidFill>
                  <a:srgbClr val="F8FAFC"/>
                </a:solidFill>
              </a:rPr>
              <a:t>• Zone D (East Corridor Bypass): </a:t>
            </a:r>
            <a:r>
              <a:rPr sz="950">
                <a:solidFill>
                  <a:srgbClr val="38BDF8"/>
                </a:solidFill>
              </a:rPr>
              <a:t>Capacity: 12,000 | Density: 32% | Status: Low / Active Bypass</a:t>
            </a:r>
          </a:p>
          <a:p>
            <a:pPr>
              <a:spcAft>
                <a:spcPts val="200"/>
              </a:spcAft>
            </a:pPr>
            <a:r>
              <a:rPr b="1" sz="950">
                <a:solidFill>
                  <a:srgbClr val="F8FAFC"/>
                </a:solidFill>
              </a:rPr>
              <a:t>• Exit (Ganga Ghat Boulevard): </a:t>
            </a:r>
            <a:r>
              <a:rPr sz="950">
                <a:solidFill>
                  <a:srgbClr val="38BDF8"/>
                </a:solidFill>
              </a:rPr>
              <a:t>Capacity: 20,000 | Density: 18% | Status: Safe Turnstiles</a:t>
            </a:r>
          </a:p>
        </p:txBody>
      </p:sp>
      <p:pic>
        <p:nvPicPr>
          <p:cNvPr id="10" name="Picture 9" descr="kashi_temple.jpg"/>
          <p:cNvPicPr>
            <a:picLocks noChangeAspect="1"/>
          </p:cNvPicPr>
          <p:nvPr/>
        </p:nvPicPr>
        <p:blipFill>
          <a:blip r:embed="rId2"/>
          <a:stretch>
            <a:fillRect/>
          </a:stretch>
        </p:blipFill>
        <p:spPr>
          <a:xfrm>
            <a:off x="6217920" y="3931920"/>
            <a:ext cx="5029200" cy="20116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RISK MODELING | ALGORITHMIC LOGIC</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Crowd Density &amp; Risk Calculation Model</a:t>
            </a:r>
          </a:p>
          <a:p>
            <a:pPr>
              <a:defRPr sz="1100">
                <a:solidFill>
                  <a:srgbClr val="94A3B8"/>
                </a:solidFill>
                <a:latin typeface="Segoe UI"/>
              </a:defRPr>
            </a:pPr>
            <a:r>
              <a:t>Multi-variable risk evaluation combining density, flow velocity, and gate pressure.</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1208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4114800"/>
          </a:xfrm>
          <a:prstGeom prst="rect">
            <a:avLst/>
          </a:prstGeom>
          <a:noFill/>
        </p:spPr>
        <p:txBody>
          <a:bodyPr wrap="square">
            <a:spAutoFit/>
          </a:bodyPr>
          <a:lstStyle/>
          <a:p>
            <a:pPr>
              <a:spcAft>
                <a:spcPts val="800"/>
              </a:spcAft>
              <a:defRPr sz="1050" b="1">
                <a:solidFill>
                  <a:srgbClr val="38BDF8"/>
                </a:solidFill>
                <a:latin typeface="Consolas"/>
              </a:defRPr>
            </a:pPr>
            <a:r>
              <a:t>QUANTITATIVE RISK FORMULATION</a:t>
            </a:r>
          </a:p>
          <a:p>
            <a:pPr>
              <a:spcAft>
                <a:spcPts val="800"/>
              </a:spcAft>
              <a:defRPr sz="1000" b="1">
                <a:solidFill>
                  <a:srgbClr val="FBBF24"/>
                </a:solidFill>
                <a:latin typeface="Consolas"/>
              </a:defRPr>
            </a:pPr>
            <a:r>
              <a:t>Risk = w1 * (N_current / Cap_max) + w2 * (1 - V_avg / V_free) + w3 * (Q_in / Q_out)</a:t>
            </a:r>
          </a:p>
          <a:p>
            <a:pPr>
              <a:spcAft>
                <a:spcPts val="400"/>
              </a:spcAft>
            </a:pPr>
            <a:r>
              <a:rPr b="1" sz="950">
                <a:solidFill>
                  <a:srgbClr val="F8FAFC"/>
                </a:solidFill>
              </a:rPr>
              <a:t>1. Capacity Utilization Ratio (w1 = 0.45): </a:t>
            </a:r>
            <a:r>
              <a:rPr sz="900">
                <a:solidFill>
                  <a:srgbClr val="94A3B8"/>
                </a:solidFill>
              </a:rPr>
              <a:t>Measures physical density (agents per m²). &gt;80% signals high compression risk.</a:t>
            </a:r>
          </a:p>
          <a:p>
            <a:pPr>
              <a:spcAft>
                <a:spcPts val="400"/>
              </a:spcAft>
            </a:pPr>
            <a:r>
              <a:rPr b="1" sz="950">
                <a:solidFill>
                  <a:srgbClr val="F8FAFC"/>
                </a:solidFill>
              </a:rPr>
              <a:t>2. Velocity Deceleration Friction (w2 = 0.35): </a:t>
            </a:r>
            <a:r>
              <a:rPr sz="900">
                <a:solidFill>
                  <a:srgbClr val="94A3B8"/>
                </a:solidFill>
              </a:rPr>
              <a:t>In Helbing physics, as density spikes, walking velocity drops from 1.2 m/s down to 0.3 m/s (crush friction).</a:t>
            </a:r>
          </a:p>
          <a:p>
            <a:pPr>
              <a:spcAft>
                <a:spcPts val="400"/>
              </a:spcAft>
            </a:pPr>
            <a:r>
              <a:rPr b="1" sz="950">
                <a:solidFill>
                  <a:srgbClr val="F8FAFC"/>
                </a:solidFill>
              </a:rPr>
              <a:t>3. Ingress / Egress Imbalance (w3 = 0.20): </a:t>
            </a:r>
            <a:r>
              <a:rPr sz="900">
                <a:solidFill>
                  <a:srgbClr val="94A3B8"/>
                </a:solidFill>
              </a:rPr>
              <a:t>If inbound flow through Gate G2 exceeds downstream exit clearance, pressure accumulates exponentially.</a:t>
            </a:r>
          </a:p>
          <a:p>
            <a:pPr>
              <a:spcAft>
                <a:spcPts val="400"/>
              </a:spcAft>
            </a:pPr>
            <a:r>
              <a:rPr b="1" sz="950">
                <a:solidFill>
                  <a:srgbClr val="F8FAFC"/>
                </a:solidFill>
              </a:rPr>
              <a:t>4. Zone Threshold Mapping: </a:t>
            </a:r>
            <a:r>
              <a:rPr sz="900">
                <a:solidFill>
                  <a:srgbClr val="94A3B8"/>
                </a:solidFill>
              </a:rPr>
              <a:t>
- Safe: &lt;40% Capacity | Laminar flow
- Medium: 40-70% Capacity | Moderate friction
- Critical Choke: &gt;80% Capacity | Crush risk threshold</a:t>
            </a:r>
          </a:p>
        </p:txBody>
      </p:sp>
      <p:sp>
        <p:nvSpPr>
          <p:cNvPr id="8" name="Rounded Rectangle 7"/>
          <p:cNvSpPr/>
          <p:nvPr/>
        </p:nvSpPr>
        <p:spPr>
          <a:xfrm>
            <a:off x="6217920" y="1737360"/>
            <a:ext cx="5242255" cy="43891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46320" cy="4114800"/>
          </a:xfrm>
          <a:prstGeom prst="rect">
            <a:avLst/>
          </a:prstGeom>
          <a:noFill/>
        </p:spPr>
        <p:txBody>
          <a:bodyPr wrap="square">
            <a:spAutoFit/>
          </a:bodyPr>
          <a:lstStyle/>
          <a:p>
            <a:pPr>
              <a:spcAft>
                <a:spcPts val="800"/>
              </a:spcAft>
              <a:defRPr sz="1050" b="1">
                <a:solidFill>
                  <a:srgbClr val="34D399"/>
                </a:solidFill>
                <a:latin typeface="Consolas"/>
              </a:defRPr>
            </a:pPr>
            <a:r>
              <a:t>PROTOTYPE LOGIC vs FUTURE ML EXTENSION</a:t>
            </a:r>
          </a:p>
          <a:p>
            <a:pPr>
              <a:spcAft>
                <a:spcPts val="200"/>
              </a:spcAft>
              <a:defRPr sz="950" b="1">
                <a:solidFill>
                  <a:srgbClr val="38BDF8"/>
                </a:solidFill>
                <a:latin typeface="Consolas"/>
              </a:defRPr>
            </a:pPr>
            <a:r>
              <a:t>CURRENT WORKING PROTOTYPE:</a:t>
            </a:r>
          </a:p>
          <a:p>
            <a:pPr>
              <a:spcAft>
                <a:spcPts val="300"/>
              </a:spcAft>
              <a:defRPr sz="900">
                <a:solidFill>
                  <a:srgbClr val="F8FAFC"/>
                </a:solidFill>
                <a:latin typeface="Segoe UI"/>
              </a:defRPr>
            </a:pPr>
            <a:r>
              <a:t>• Rule-Based &amp; Social Force Simulation Logic: Evaluates live spatial agent coordinates against zone polygon boundaries.</a:t>
            </a:r>
          </a:p>
          <a:p>
            <a:pPr>
              <a:spcAft>
                <a:spcPts val="300"/>
              </a:spcAft>
              <a:defRPr sz="900">
                <a:solidFill>
                  <a:srgbClr val="F8FAFC"/>
                </a:solidFill>
                <a:latin typeface="Segoe UI"/>
              </a:defRPr>
            </a:pPr>
            <a:r>
              <a:t>• Velocity Modulation: Agents dynamically decelerate by 65% when entering congested Zone B corridors.</a:t>
            </a:r>
          </a:p>
          <a:p>
            <a:pPr>
              <a:spcAft>
                <a:spcPts val="300"/>
              </a:spcAft>
              <a:defRPr sz="900">
                <a:solidFill>
                  <a:srgbClr val="F8FAFC"/>
                </a:solidFill>
                <a:latin typeface="Segoe UI"/>
              </a:defRPr>
            </a:pPr>
            <a:r>
              <a:t>• Marshal Queue Guidance: Deploying marshals aligns lane offsets and restores laminar flow (+25% speed).</a:t>
            </a:r>
          </a:p>
          <a:p>
            <a:br/>
            <a:pPr>
              <a:spcAft>
                <a:spcPts val="200"/>
              </a:spcAft>
              <a:defRPr sz="950" b="1">
                <a:solidFill>
                  <a:srgbClr val="FBBF24"/>
                </a:solidFill>
                <a:latin typeface="Consolas"/>
              </a:defRPr>
            </a:pPr>
            <a:r>
              <a:t>FUTURE SCOPE (PLANNED ML ARCHITECTURE):</a:t>
            </a:r>
          </a:p>
          <a:p>
            <a:pPr>
              <a:spcAft>
                <a:spcPts val="300"/>
              </a:spcAft>
              <a:defRPr sz="900">
                <a:solidFill>
                  <a:srgbClr val="94A3B8"/>
                </a:solidFill>
                <a:latin typeface="Segoe UI"/>
              </a:defRPr>
            </a:pPr>
            <a:r>
              <a:t>• Real-Time Vision Head Counting: Fine-tuned YOLOv8 on CCTV streams for empirical headcount inputs.</a:t>
            </a:r>
          </a:p>
          <a:p>
            <a:pPr>
              <a:spcAft>
                <a:spcPts val="300"/>
              </a:spcAft>
              <a:defRPr sz="900">
                <a:solidFill>
                  <a:srgbClr val="94A3B8"/>
                </a:solidFill>
                <a:latin typeface="Segoe UI"/>
              </a:defRPr>
            </a:pPr>
            <a:r>
              <a:t>• Time-Series Deep Learning: LSTM / Temporal Convolutional Networks trained on festival historical rush data to forecast density 15 minutes ahead.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SIMULATION ENGINE | WHAT-IF SANDBOX</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What-If Simulation Engine: Stress-Testing Interventions</a:t>
            </a:r>
          </a:p>
          <a:p>
            <a:pPr>
              <a:defRPr sz="1100">
                <a:solidFill>
                  <a:srgbClr val="94A3B8"/>
                </a:solidFill>
                <a:latin typeface="Segoe UI"/>
              </a:defRPr>
            </a:pPr>
            <a:r>
              <a:t>Simulate interventions in a virtual sandbox before executing orders on the ground.</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1208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2194560"/>
          </a:xfrm>
          <a:prstGeom prst="rect">
            <a:avLst/>
          </a:prstGeom>
          <a:noFill/>
        </p:spPr>
        <p:txBody>
          <a:bodyPr wrap="square">
            <a:spAutoFit/>
          </a:bodyPr>
          <a:lstStyle/>
          <a:p>
            <a:pPr>
              <a:spcAft>
                <a:spcPts val="400"/>
              </a:spcAft>
              <a:defRPr sz="1050" b="1">
                <a:solidFill>
                  <a:srgbClr val="38BDF8"/>
                </a:solidFill>
                <a:latin typeface="Consolas"/>
              </a:defRPr>
            </a:pPr>
            <a:r>
              <a:t>TESTED SCENARIO: GATE G2 BOTTLENECK MITIGATION</a:t>
            </a:r>
          </a:p>
          <a:p>
            <a:pPr>
              <a:spcAft>
                <a:spcPts val="400"/>
              </a:spcAft>
              <a:defRPr sz="950">
                <a:solidFill>
                  <a:srgbClr val="94A3B8"/>
                </a:solidFill>
                <a:latin typeface="Segoe UI"/>
              </a:defRPr>
            </a:pPr>
            <a:r>
              <a:t>In the Kashi Temple scenario, Gate G2 funnels 45% of total inflow directly into the narrow Sanctum (Zone B), causing density to spike to 88% with severe crush friction (0.38 m/s). In our What-If Sandbox, the commander tests:</a:t>
            </a:r>
          </a:p>
          <a:p>
            <a:pPr>
              <a:spcAft>
                <a:spcPts val="200"/>
              </a:spcAft>
              <a:defRPr sz="900" b="1">
                <a:solidFill>
                  <a:srgbClr val="F8FAFC"/>
                </a:solidFill>
                <a:latin typeface="Segoe UI"/>
              </a:defRPr>
            </a:pPr>
            <a:r>
              <a:t>• 1. Close Gate G2 (North Gopuram) holding inbound surge</a:t>
            </a:r>
          </a:p>
          <a:p>
            <a:pPr>
              <a:spcAft>
                <a:spcPts val="200"/>
              </a:spcAft>
              <a:defRPr sz="900" b="1">
                <a:solidFill>
                  <a:srgbClr val="F8FAFC"/>
                </a:solidFill>
                <a:latin typeface="Segoe UI"/>
              </a:defRPr>
            </a:pPr>
            <a:r>
              <a:t>• 2. Divert incoming flow east to Gate G3 (West Bypass)</a:t>
            </a:r>
          </a:p>
          <a:p>
            <a:pPr>
              <a:spcAft>
                <a:spcPts val="200"/>
              </a:spcAft>
              <a:defRPr sz="900" b="1">
                <a:solidFill>
                  <a:srgbClr val="F8FAFC"/>
                </a:solidFill>
                <a:latin typeface="Segoe UI"/>
              </a:defRPr>
            </a:pPr>
            <a:r>
              <a:t>• 3. Deploy 12 Safety Marshals in Zone B for laminar queuing</a:t>
            </a:r>
          </a:p>
          <a:p>
            <a:pPr>
              <a:spcAft>
                <a:spcPts val="200"/>
              </a:spcAft>
              <a:defRPr sz="900" b="1">
                <a:solidFill>
                  <a:srgbClr val="F8FAFC"/>
                </a:solidFill>
                <a:latin typeface="Segoe UI"/>
              </a:defRPr>
            </a:pPr>
            <a:r>
              <a:t>• 4. Expand Auxiliary Exit Turnstiles (+65% discharge)</a:t>
            </a:r>
          </a:p>
        </p:txBody>
      </p:sp>
      <p:sp>
        <p:nvSpPr>
          <p:cNvPr id="8" name="Rounded Rectangle 7"/>
          <p:cNvSpPr/>
          <p:nvPr/>
        </p:nvSpPr>
        <p:spPr>
          <a:xfrm>
            <a:off x="914400" y="3840480"/>
            <a:ext cx="2331720" cy="1051560"/>
          </a:xfrm>
          <a:prstGeom prst="roundRect">
            <a:avLst/>
          </a:prstGeom>
          <a:solidFill>
            <a:srgbClr val="1017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931920"/>
            <a:ext cx="2112264" cy="868680"/>
          </a:xfrm>
          <a:prstGeom prst="rect">
            <a:avLst/>
          </a:prstGeom>
          <a:noFill/>
        </p:spPr>
        <p:txBody>
          <a:bodyPr wrap="square" lIns="0" tIns="0" rIns="0" bIns="0">
            <a:spAutoFit/>
          </a:bodyPr>
          <a:lstStyle/>
          <a:p>
            <a:pPr>
              <a:spcAft>
                <a:spcPts val="200"/>
              </a:spcAft>
              <a:defRPr sz="850" b="1">
                <a:solidFill>
                  <a:srgbClr val="64748B"/>
                </a:solidFill>
                <a:latin typeface="Consolas"/>
              </a:defRPr>
            </a:pPr>
            <a:r>
              <a:t>DENSITY REDUCTION</a:t>
            </a:r>
          </a:p>
          <a:p>
            <a:pPr>
              <a:spcAft>
                <a:spcPts val="100"/>
              </a:spcAft>
              <a:defRPr sz="2000" b="1">
                <a:solidFill>
                  <a:srgbClr val="34D399"/>
                </a:solidFill>
                <a:latin typeface="Segoe UI"/>
              </a:defRPr>
            </a:pPr>
            <a:r>
              <a:t>↓ 24%</a:t>
            </a:r>
          </a:p>
          <a:p>
            <a:pPr>
              <a:defRPr sz="850">
                <a:solidFill>
                  <a:srgbClr val="94A3B8"/>
                </a:solidFill>
                <a:latin typeface="Segoe UI"/>
              </a:defRPr>
            </a:pPr>
            <a:r>
              <a:t>From 81% peak to 57% safe</a:t>
            </a:r>
          </a:p>
        </p:txBody>
      </p:sp>
      <p:sp>
        <p:nvSpPr>
          <p:cNvPr id="10" name="Rounded Rectangle 9"/>
          <p:cNvSpPr/>
          <p:nvPr/>
        </p:nvSpPr>
        <p:spPr>
          <a:xfrm>
            <a:off x="3429000" y="3840480"/>
            <a:ext cx="2331720" cy="1051560"/>
          </a:xfrm>
          <a:prstGeom prst="roundRect">
            <a:avLst/>
          </a:prstGeom>
          <a:solidFill>
            <a:srgbClr val="1017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3931920"/>
            <a:ext cx="2112264" cy="868680"/>
          </a:xfrm>
          <a:prstGeom prst="rect">
            <a:avLst/>
          </a:prstGeom>
          <a:noFill/>
        </p:spPr>
        <p:txBody>
          <a:bodyPr wrap="square" lIns="0" tIns="0" rIns="0" bIns="0">
            <a:spAutoFit/>
          </a:bodyPr>
          <a:lstStyle/>
          <a:p>
            <a:pPr>
              <a:spcAft>
                <a:spcPts val="200"/>
              </a:spcAft>
              <a:defRPr sz="850" b="1">
                <a:solidFill>
                  <a:srgbClr val="64748B"/>
                </a:solidFill>
                <a:latin typeface="Consolas"/>
              </a:defRPr>
            </a:pPr>
            <a:r>
              <a:t>RISK PROFILE</a:t>
            </a:r>
          </a:p>
          <a:p>
            <a:pPr>
              <a:spcAft>
                <a:spcPts val="100"/>
              </a:spcAft>
              <a:defRPr sz="2000" b="1">
                <a:solidFill>
                  <a:srgbClr val="34D399"/>
                </a:solidFill>
                <a:latin typeface="Segoe UI"/>
              </a:defRPr>
            </a:pPr>
            <a:r>
              <a:t>High → Low</a:t>
            </a:r>
          </a:p>
          <a:p>
            <a:pPr>
              <a:defRPr sz="850">
                <a:solidFill>
                  <a:srgbClr val="94A3B8"/>
                </a:solidFill>
                <a:latin typeface="Segoe UI"/>
              </a:defRPr>
            </a:pPr>
            <a:r>
              <a:t>Crush probability suppressed</a:t>
            </a:r>
          </a:p>
        </p:txBody>
      </p:sp>
      <p:sp>
        <p:nvSpPr>
          <p:cNvPr id="12" name="Rounded Rectangle 11"/>
          <p:cNvSpPr/>
          <p:nvPr/>
        </p:nvSpPr>
        <p:spPr>
          <a:xfrm>
            <a:off x="914400" y="4983480"/>
            <a:ext cx="2331720" cy="1051560"/>
          </a:xfrm>
          <a:prstGeom prst="roundRect">
            <a:avLst/>
          </a:prstGeom>
          <a:solidFill>
            <a:srgbClr val="10172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5074920"/>
            <a:ext cx="2112264" cy="868680"/>
          </a:xfrm>
          <a:prstGeom prst="rect">
            <a:avLst/>
          </a:prstGeom>
          <a:noFill/>
        </p:spPr>
        <p:txBody>
          <a:bodyPr wrap="square" lIns="0" tIns="0" rIns="0" bIns="0">
            <a:spAutoFit/>
          </a:bodyPr>
          <a:lstStyle/>
          <a:p>
            <a:pPr>
              <a:spcAft>
                <a:spcPts val="200"/>
              </a:spcAft>
              <a:defRPr sz="850" b="1">
                <a:solidFill>
                  <a:srgbClr val="64748B"/>
                </a:solidFill>
                <a:latin typeface="Consolas"/>
              </a:defRPr>
            </a:pPr>
            <a:r>
              <a:t>FLOW VELOCITY</a:t>
            </a:r>
          </a:p>
          <a:p>
            <a:pPr>
              <a:spcAft>
                <a:spcPts val="100"/>
              </a:spcAft>
              <a:defRPr sz="2000" b="1">
                <a:solidFill>
                  <a:srgbClr val="38BDF8"/>
                </a:solidFill>
                <a:latin typeface="Segoe UI"/>
              </a:defRPr>
            </a:pPr>
            <a:r>
              <a:t>↑ 31%</a:t>
            </a:r>
          </a:p>
          <a:p>
            <a:pPr>
              <a:defRPr sz="850">
                <a:solidFill>
                  <a:srgbClr val="94A3B8"/>
                </a:solidFill>
                <a:latin typeface="Segoe UI"/>
              </a:defRPr>
            </a:pPr>
            <a:r>
              <a:t>0.38  -&gt;  1.24 m/s laminar</a:t>
            </a:r>
          </a:p>
        </p:txBody>
      </p:sp>
      <p:sp>
        <p:nvSpPr>
          <p:cNvPr id="14" name="Rounded Rectangle 13"/>
          <p:cNvSpPr/>
          <p:nvPr/>
        </p:nvSpPr>
        <p:spPr>
          <a:xfrm>
            <a:off x="3429000" y="4983480"/>
            <a:ext cx="2331720" cy="1051560"/>
          </a:xfrm>
          <a:prstGeom prst="roundRect">
            <a:avLst/>
          </a:prstGeom>
          <a:solidFill>
            <a:srgbClr val="10172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5074920"/>
            <a:ext cx="2112264" cy="868680"/>
          </a:xfrm>
          <a:prstGeom prst="rect">
            <a:avLst/>
          </a:prstGeom>
          <a:noFill/>
        </p:spPr>
        <p:txBody>
          <a:bodyPr wrap="square" lIns="0" tIns="0" rIns="0" bIns="0">
            <a:spAutoFit/>
          </a:bodyPr>
          <a:lstStyle/>
          <a:p>
            <a:pPr>
              <a:spcAft>
                <a:spcPts val="200"/>
              </a:spcAft>
              <a:defRPr sz="850" b="1">
                <a:solidFill>
                  <a:srgbClr val="64748B"/>
                </a:solidFill>
                <a:latin typeface="Consolas"/>
              </a:defRPr>
            </a:pPr>
            <a:r>
              <a:t>EXIT DISCHARGE</a:t>
            </a:r>
          </a:p>
          <a:p>
            <a:pPr>
              <a:spcAft>
                <a:spcPts val="100"/>
              </a:spcAft>
              <a:defRPr sz="2000" b="1">
                <a:solidFill>
                  <a:srgbClr val="38BDF8"/>
                </a:solidFill>
                <a:latin typeface="Segoe UI"/>
              </a:defRPr>
            </a:pPr>
            <a:r>
              <a:t>61% Balanced</a:t>
            </a:r>
          </a:p>
          <a:p>
            <a:pPr>
              <a:defRPr sz="850">
                <a:solidFill>
                  <a:srgbClr val="94A3B8"/>
                </a:solidFill>
                <a:latin typeface="Segoe UI"/>
              </a:defRPr>
            </a:pPr>
            <a:r>
              <a:t>Symmetric egress clearance</a:t>
            </a:r>
          </a:p>
        </p:txBody>
      </p:sp>
      <p:sp>
        <p:nvSpPr>
          <p:cNvPr id="16" name="Rounded Rectangle 15"/>
          <p:cNvSpPr/>
          <p:nvPr/>
        </p:nvSpPr>
        <p:spPr>
          <a:xfrm>
            <a:off x="6217920" y="1737360"/>
            <a:ext cx="5242255" cy="43891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74519"/>
            <a:ext cx="4846320" cy="457200"/>
          </a:xfrm>
          <a:prstGeom prst="rect">
            <a:avLst/>
          </a:prstGeom>
          <a:noFill/>
        </p:spPr>
        <p:txBody>
          <a:bodyPr wrap="none">
            <a:spAutoFit/>
          </a:bodyPr>
          <a:lstStyle/>
          <a:p>
            <a:pPr>
              <a:defRPr sz="1050" b="1">
                <a:solidFill>
                  <a:srgbClr val="34D399"/>
                </a:solidFill>
                <a:latin typeface="Consolas"/>
              </a:defRPr>
            </a:pPr>
            <a:r>
              <a:t>BEFORE vs AFTER SIMULATION TELEMETRY</a:t>
            </a:r>
          </a:p>
        </p:txBody>
      </p:sp>
      <p:pic>
        <p:nvPicPr>
          <p:cNvPr id="18" name="Picture 17" descr="sim_results.png"/>
          <p:cNvPicPr>
            <a:picLocks noChangeAspect="1"/>
          </p:cNvPicPr>
          <p:nvPr/>
        </p:nvPicPr>
        <p:blipFill>
          <a:blip r:embed="rId2"/>
          <a:stretch>
            <a:fillRect/>
          </a:stretch>
        </p:blipFill>
        <p:spPr>
          <a:xfrm>
            <a:off x="6400800" y="2286000"/>
            <a:ext cx="4846320"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ROUTING INTELLIGENCE | PATHFINDING</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Dynamic Route &amp; Evacuation Intelligence</a:t>
            </a:r>
          </a:p>
          <a:p>
            <a:pPr>
              <a:defRPr sz="1100">
                <a:solidFill>
                  <a:srgbClr val="94A3B8"/>
                </a:solidFill>
                <a:latin typeface="Segoe UI"/>
              </a:defRPr>
            </a:pPr>
            <a:r>
              <a:t>Algorithmic diversion to lower simulated risk corridors during congestion.</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1208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846320" cy="4114800"/>
          </a:xfrm>
          <a:prstGeom prst="rect">
            <a:avLst/>
          </a:prstGeom>
          <a:noFill/>
        </p:spPr>
        <p:txBody>
          <a:bodyPr wrap="square">
            <a:spAutoFit/>
          </a:bodyPr>
          <a:lstStyle/>
          <a:p>
            <a:pPr>
              <a:spcAft>
                <a:spcPts val="800"/>
              </a:spcAft>
              <a:defRPr sz="1050" b="1">
                <a:solidFill>
                  <a:srgbClr val="38BDF8"/>
                </a:solidFill>
                <a:latin typeface="Consolas"/>
              </a:defRPr>
            </a:pPr>
            <a:r>
              <a:t>WAYPOINT-BASED DYNAMIC REROUTING</a:t>
            </a:r>
          </a:p>
          <a:p>
            <a:pPr>
              <a:spcAft>
                <a:spcPts val="400"/>
              </a:spcAft>
            </a:pPr>
            <a:r>
              <a:rPr b="1" sz="1000">
                <a:solidFill>
                  <a:srgbClr val="F8FAFC"/>
                </a:solidFill>
              </a:rPr>
              <a:t>Route 1 (North Queue Ingress): 
</a:t>
            </a:r>
            <a:r>
              <a:rPr sz="900">
                <a:solidFill>
                  <a:srgbClr val="94A3B8"/>
                </a:solidFill>
              </a:rPr>
              <a:t>Gate G1  -&gt;  Zone A  -&gt;  Central Plaza  -&gt;  Main Exit. Stable flow, operating at 24% capacity utilization.
</a:t>
            </a:r>
          </a:p>
          <a:p>
            <a:pPr>
              <a:spcAft>
                <a:spcPts val="400"/>
              </a:spcAft>
            </a:pPr>
            <a:r>
              <a:rPr b="1" sz="1000">
                <a:solidFill>
                  <a:srgbClr val="F8FAFC"/>
                </a:solidFill>
              </a:rPr>
              <a:t>Route 2 (Central Main Ingress - Choke): 
</a:t>
            </a:r>
            <a:r>
              <a:rPr sz="900">
                <a:solidFill>
                  <a:srgbClr val="94A3B8"/>
                </a:solidFill>
              </a:rPr>
              <a:t>Gate G2  -&gt;  Zone B Sanctum Choke  -&gt;  Main Exit. Critical Bottleneck (88% load). Primary cause of crush hazard.
</a:t>
            </a:r>
          </a:p>
          <a:p>
            <a:pPr>
              <a:spcAft>
                <a:spcPts val="400"/>
              </a:spcAft>
            </a:pPr>
            <a:r>
              <a:rPr b="1" sz="1000">
                <a:solidFill>
                  <a:srgbClr val="F8FAFC"/>
                </a:solidFill>
              </a:rPr>
              <a:t>Route 3 / Bypass Diversion (Lower Simulated Risk): 
</a:t>
            </a:r>
            <a:r>
              <a:rPr sz="900">
                <a:solidFill>
                  <a:srgbClr val="94A3B8"/>
                </a:solidFill>
              </a:rPr>
              <a:t>When Gate G2 closes, inbound agents before Y=120px are dynamically redirected east onto Connector  -&gt;  West Corridor (Gate G3)  -&gt;  Main Exit.
</a:t>
            </a:r>
          </a:p>
          <a:p>
            <a:pPr>
              <a:spcAft>
                <a:spcPts val="200"/>
              </a:spcAft>
              <a:defRPr sz="950" b="1">
                <a:solidFill>
                  <a:srgbClr val="FBBF24"/>
                </a:solidFill>
                <a:latin typeface="Consolas"/>
              </a:defRPr>
            </a:pPr>
            <a:r>
              <a:t>CRITICAL TECHNICAL PRECISION:</a:t>
            </a:r>
          </a:p>
          <a:p>
            <a:pPr>
              <a:defRPr sz="900">
                <a:solidFill>
                  <a:srgbClr val="94A3B8"/>
                </a:solidFill>
                <a:latin typeface="Segoe UI"/>
              </a:defRPr>
            </a:pPr>
            <a:r>
              <a:t>We designate Route 3 as 'Lower Simulated Risk' based on current capacity telemetry, rather than making an unverified claim of a 'guaranteed safest' route. Real venues require human situational oversight.</a:t>
            </a:r>
          </a:p>
        </p:txBody>
      </p:sp>
      <p:sp>
        <p:nvSpPr>
          <p:cNvPr id="8" name="Rounded Rectangle 7"/>
          <p:cNvSpPr/>
          <p:nvPr/>
        </p:nvSpPr>
        <p:spPr>
          <a:xfrm>
            <a:off x="6217920" y="1737360"/>
            <a:ext cx="5242255" cy="43891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19"/>
            <a:ext cx="4846320" cy="365760"/>
          </a:xfrm>
          <a:prstGeom prst="rect">
            <a:avLst/>
          </a:prstGeom>
          <a:noFill/>
        </p:spPr>
        <p:txBody>
          <a:bodyPr wrap="none">
            <a:spAutoFit/>
          </a:bodyPr>
          <a:lstStyle/>
          <a:p>
            <a:pPr>
              <a:defRPr sz="1050" b="1">
                <a:solidFill>
                  <a:srgbClr val="34D399"/>
                </a:solidFill>
                <a:latin typeface="Consolas"/>
              </a:defRPr>
            </a:pPr>
            <a:r>
              <a:t>CURRENT ROUTE (CHOKE) vs ALTERNATIVE BYPASS</a:t>
            </a:r>
          </a:p>
        </p:txBody>
      </p:sp>
      <p:sp>
        <p:nvSpPr>
          <p:cNvPr id="10" name="Rounded Rectangle 9"/>
          <p:cNvSpPr/>
          <p:nvPr/>
        </p:nvSpPr>
        <p:spPr>
          <a:xfrm>
            <a:off x="6400800" y="2331720"/>
            <a:ext cx="4846320" cy="1783080"/>
          </a:xfrm>
          <a:prstGeom prst="roundRect">
            <a:avLst/>
          </a:prstGeom>
          <a:solidFill>
            <a:srgbClr val="261218"/>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urrent_route_map.png"/>
          <p:cNvPicPr>
            <a:picLocks noChangeAspect="1"/>
          </p:cNvPicPr>
          <p:nvPr/>
        </p:nvPicPr>
        <p:blipFill>
          <a:blip r:embed="rId2"/>
          <a:stretch>
            <a:fillRect/>
          </a:stretch>
        </p:blipFill>
        <p:spPr>
          <a:xfrm>
            <a:off x="6492240" y="2423160"/>
            <a:ext cx="2194560" cy="1600200"/>
          </a:xfrm>
          <a:prstGeom prst="rect">
            <a:avLst/>
          </a:prstGeom>
        </p:spPr>
      </p:pic>
      <p:sp>
        <p:nvSpPr>
          <p:cNvPr id="12" name="TextBox 11"/>
          <p:cNvSpPr txBox="1"/>
          <p:nvPr/>
        </p:nvSpPr>
        <p:spPr>
          <a:xfrm>
            <a:off x="8778240" y="2468880"/>
            <a:ext cx="2377440" cy="1463040"/>
          </a:xfrm>
          <a:prstGeom prst="rect">
            <a:avLst/>
          </a:prstGeom>
          <a:noFill/>
        </p:spPr>
        <p:txBody>
          <a:bodyPr wrap="square">
            <a:spAutoFit/>
          </a:bodyPr>
          <a:lstStyle/>
          <a:p>
            <a:pPr>
              <a:defRPr b="1" sz="1000">
                <a:solidFill>
                  <a:srgbClr val="F87171"/>
                </a:solidFill>
              </a:defRPr>
            </a:pPr>
            <a:r>
              <a:t>ROUTE 2: SANCTUM CHOKE</a:t>
            </a:r>
          </a:p>
          <a:p>
            <a:pPr>
              <a:defRPr sz="850">
                <a:solidFill>
                  <a:srgbClr val="94A3B8"/>
                </a:solidFill>
              </a:defRPr>
            </a:pPr>
            <a:r>
              <a:t>Flow funneling through Gate G2 directly into Zone B. High crush turbulence and flow halt.</a:t>
            </a:r>
          </a:p>
        </p:txBody>
      </p:sp>
      <p:sp>
        <p:nvSpPr>
          <p:cNvPr id="13" name="Rounded Rectangle 12"/>
          <p:cNvSpPr/>
          <p:nvPr/>
        </p:nvSpPr>
        <p:spPr>
          <a:xfrm>
            <a:off x="6400800" y="4251960"/>
            <a:ext cx="4846320" cy="1783080"/>
          </a:xfrm>
          <a:prstGeom prst="roundRect">
            <a:avLst/>
          </a:prstGeom>
          <a:solidFill>
            <a:srgbClr val="0E241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lt_route_map.png"/>
          <p:cNvPicPr>
            <a:picLocks noChangeAspect="1"/>
          </p:cNvPicPr>
          <p:nvPr/>
        </p:nvPicPr>
        <p:blipFill>
          <a:blip r:embed="rId3"/>
          <a:stretch>
            <a:fillRect/>
          </a:stretch>
        </p:blipFill>
        <p:spPr>
          <a:xfrm>
            <a:off x="6492240" y="4343400"/>
            <a:ext cx="2194560" cy="1600200"/>
          </a:xfrm>
          <a:prstGeom prst="rect">
            <a:avLst/>
          </a:prstGeom>
        </p:spPr>
      </p:pic>
      <p:sp>
        <p:nvSpPr>
          <p:cNvPr id="15" name="TextBox 14"/>
          <p:cNvSpPr txBox="1"/>
          <p:nvPr/>
        </p:nvSpPr>
        <p:spPr>
          <a:xfrm>
            <a:off x="8778240" y="4389120"/>
            <a:ext cx="2377440" cy="1463040"/>
          </a:xfrm>
          <a:prstGeom prst="rect">
            <a:avLst/>
          </a:prstGeom>
          <a:noFill/>
        </p:spPr>
        <p:txBody>
          <a:bodyPr wrap="square">
            <a:spAutoFit/>
          </a:bodyPr>
          <a:lstStyle/>
          <a:p>
            <a:pPr>
              <a:defRPr b="1" sz="1000">
                <a:solidFill>
                  <a:srgbClr val="34D399"/>
                </a:solidFill>
              </a:defRPr>
            </a:pPr>
            <a:r>
              <a:t>ROUTE 3: EAST BYPASS</a:t>
            </a:r>
          </a:p>
          <a:p>
            <a:pPr>
              <a:defRPr sz="850">
                <a:solidFill>
                  <a:srgbClr val="94A3B8"/>
                </a:solidFill>
              </a:defRPr>
            </a:pPr>
            <a:r>
              <a:t>Inbound flow diverted east onto bypass corridor. Restores laminar flow velocity and safe exit.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COMMAND CENTER | OPERATIONAL UI</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Unified Command Center &amp; Tactical Interface</a:t>
            </a:r>
          </a:p>
          <a:p>
            <a:pPr>
              <a:defRPr sz="1100">
                <a:solidFill>
                  <a:srgbClr val="94A3B8"/>
                </a:solidFill>
                <a:latin typeface="Segoe UI"/>
              </a:defRPr>
            </a:pPr>
            <a:r>
              <a:t>High-contrast, distraction-free interface engineered for rapid situational awareness.</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12064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4754880" cy="4114800"/>
          </a:xfrm>
          <a:prstGeom prst="rect">
            <a:avLst/>
          </a:prstGeom>
          <a:noFill/>
        </p:spPr>
        <p:txBody>
          <a:bodyPr wrap="square">
            <a:spAutoFit/>
          </a:bodyPr>
          <a:lstStyle/>
          <a:p>
            <a:pPr>
              <a:spcAft>
                <a:spcPts val="800"/>
              </a:spcAft>
              <a:defRPr sz="1050" b="1">
                <a:solidFill>
                  <a:srgbClr val="38BDF8"/>
                </a:solidFill>
                <a:latin typeface="Consolas"/>
              </a:defRPr>
            </a:pPr>
            <a:r>
              <a:t>FIVE INTEGRATED COMMAND MODULES</a:t>
            </a:r>
          </a:p>
          <a:p>
            <a:pPr>
              <a:spcAft>
                <a:spcPts val="400"/>
              </a:spcAft>
            </a:pPr>
            <a:r>
              <a:rPr b="1" sz="950">
                <a:solidFill>
                  <a:srgbClr val="F8FAFC"/>
                </a:solidFill>
              </a:rPr>
              <a:t>1. Incident Alert &amp; Telemetry Header: </a:t>
            </a:r>
            <a:r>
              <a:rPr sz="900">
                <a:solidFill>
                  <a:srgbClr val="94A3B8"/>
                </a:solidFill>
              </a:rPr>
              <a:t>Real-time venue selection, global crowd headcount (142,850), critical bottleneck alerts, and high-visibility risk badges.</a:t>
            </a:r>
          </a:p>
          <a:p>
            <a:pPr>
              <a:spcAft>
                <a:spcPts val="400"/>
              </a:spcAft>
            </a:pPr>
            <a:r>
              <a:rPr b="1" sz="950">
                <a:solidFill>
                  <a:srgbClr val="F8FAFC"/>
                </a:solidFill>
              </a:rPr>
              <a:t>2. Real-Time 2D Digital Twin Canvas: </a:t>
            </a:r>
            <a:r>
              <a:rPr sz="900">
                <a:solidFill>
                  <a:srgbClr val="94A3B8"/>
                </a:solidFill>
              </a:rPr>
              <a:t>Hardware-accelerated HTML5 canvas rendering 320+ autonomous agents, directional vectors, and dynamic thermal heatmaps at 60 FPS.</a:t>
            </a:r>
          </a:p>
          <a:p>
            <a:pPr>
              <a:spcAft>
                <a:spcPts val="400"/>
              </a:spcAft>
            </a:pPr>
            <a:r>
              <a:rPr b="1" sz="950">
                <a:solidFill>
                  <a:srgbClr val="F8FAFC"/>
                </a:solidFill>
              </a:rPr>
              <a:t>3. Predictive Horizons Panel: </a:t>
            </a:r>
            <a:r>
              <a:rPr sz="900">
                <a:solidFill>
                  <a:srgbClr val="94A3B8"/>
                </a:solidFill>
              </a:rPr>
              <a:t>Recharts area curves projecting density trends across +2, +5, +10, and +15 minute windows against critical safety thresholds.</a:t>
            </a:r>
          </a:p>
          <a:p>
            <a:pPr>
              <a:spcAft>
                <a:spcPts val="400"/>
              </a:spcAft>
            </a:pPr>
            <a:r>
              <a:rPr b="1" sz="950">
                <a:solidFill>
                  <a:srgbClr val="F8FAFC"/>
                </a:solidFill>
              </a:rPr>
              <a:t>4. What-If Policy Sandbox: </a:t>
            </a:r>
            <a:r>
              <a:rPr sz="900">
                <a:solidFill>
                  <a:srgbClr val="94A3B8"/>
                </a:solidFill>
              </a:rPr>
              <a:t>Interactive toggle controls allowing instant gate closures, bypass reroutes, inflow adjustments, and marshal deployments.</a:t>
            </a:r>
          </a:p>
          <a:p>
            <a:pPr>
              <a:spcAft>
                <a:spcPts val="400"/>
              </a:spcAft>
            </a:pPr>
            <a:r>
              <a:rPr b="1" sz="950">
                <a:solidFill>
                  <a:srgbClr val="F8FAFC"/>
                </a:solidFill>
              </a:rPr>
              <a:t>5. AI Copilot Advisory: </a:t>
            </a:r>
            <a:r>
              <a:rPr sz="900">
                <a:solidFill>
                  <a:srgbClr val="94A3B8"/>
                </a:solidFill>
              </a:rPr>
              <a:t>Translates raw telemetry into concise tactical guidance: 'Diverting primary inflow away from Gate G2 reduces cascade risk by 62%.'</a:t>
            </a:r>
          </a:p>
        </p:txBody>
      </p:sp>
      <p:sp>
        <p:nvSpPr>
          <p:cNvPr id="8" name="Rounded Rectangle 7"/>
          <p:cNvSpPr/>
          <p:nvPr/>
        </p:nvSpPr>
        <p:spPr>
          <a:xfrm>
            <a:off x="6035040" y="1737360"/>
            <a:ext cx="5425135" cy="43891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ll_dashboard_reference.jpg"/>
          <p:cNvPicPr>
            <a:picLocks noChangeAspect="1"/>
          </p:cNvPicPr>
          <p:nvPr/>
        </p:nvPicPr>
        <p:blipFill>
          <a:blip r:embed="rId2"/>
          <a:stretch>
            <a:fillRect/>
          </a:stretch>
        </p:blipFill>
        <p:spPr>
          <a:xfrm>
            <a:off x="6172200" y="1874519"/>
            <a:ext cx="5150815" cy="4114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SCALABILITY | PARAMETRIC ARCHITECTURE</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Multi-Venue Scalability: One Engine, Diverse Environments</a:t>
            </a:r>
          </a:p>
          <a:p>
            <a:pPr>
              <a:defRPr sz="1100">
                <a:solidFill>
                  <a:srgbClr val="94A3B8"/>
                </a:solidFill>
                <a:latin typeface="Segoe UI"/>
              </a:defRPr>
            </a:pPr>
            <a:r>
              <a:t>Parametric design allows seamless reconfiguration across diverse mass-gathering typologies.</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66944" cy="205740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865376"/>
            <a:ext cx="4974336" cy="1801368"/>
          </a:xfrm>
          <a:prstGeom prst="rect">
            <a:avLst/>
          </a:prstGeom>
          <a:noFill/>
        </p:spPr>
        <p:txBody>
          <a:bodyPr wrap="square">
            <a:spAutoFit/>
          </a:bodyPr>
          <a:lstStyle/>
          <a:p>
            <a:pPr>
              <a:spcAft>
                <a:spcPts val="200"/>
              </a:spcAft>
              <a:defRPr sz="900" b="1">
                <a:solidFill>
                  <a:srgbClr val="38BDF8"/>
                </a:solidFill>
                <a:latin typeface="Consolas"/>
              </a:defRPr>
            </a:pPr>
            <a:r>
              <a:t>PILGRIMAGE TEMPLE COMPLEX</a:t>
            </a:r>
          </a:p>
          <a:p>
            <a:pPr>
              <a:spcAft>
                <a:spcPts val="400"/>
              </a:spcAft>
              <a:defRPr sz="1200" b="1">
                <a:solidFill>
                  <a:srgbClr val="F8FAFC"/>
                </a:solidFill>
                <a:latin typeface="Segoe UI"/>
              </a:defRPr>
            </a:pPr>
            <a:r>
              <a:t>Kashi Vishwanath Temple (Varanasi)</a:t>
            </a:r>
          </a:p>
          <a:p>
            <a:pPr>
              <a:spcAft>
                <a:spcPts val="200"/>
              </a:spcAft>
              <a:defRPr sz="900">
                <a:solidFill>
                  <a:srgbClr val="94A3B8"/>
                </a:solidFill>
                <a:latin typeface="Segoe UI"/>
              </a:defRPr>
            </a:pPr>
            <a:r>
              <a:t>• Architecture: Historic narrow heritage corridors &amp; sanctum</a:t>
            </a:r>
          </a:p>
          <a:p>
            <a:pPr>
              <a:spcAft>
                <a:spcPts val="200"/>
              </a:spcAft>
              <a:defRPr sz="900">
                <a:solidFill>
                  <a:srgbClr val="94A3B8"/>
                </a:solidFill>
                <a:latin typeface="Segoe UI"/>
              </a:defRPr>
            </a:pPr>
            <a:r>
              <a:t>• Key Challenge: High inflow funneling toward central Garbhagriha</a:t>
            </a:r>
          </a:p>
          <a:p>
            <a:pPr>
              <a:spcAft>
                <a:spcPts val="200"/>
              </a:spcAft>
              <a:defRPr sz="900">
                <a:solidFill>
                  <a:srgbClr val="94A3B8"/>
                </a:solidFill>
                <a:latin typeface="Segoe UI"/>
              </a:defRPr>
            </a:pPr>
            <a:r>
              <a:t>• Core Mitigation: North Gopuram gate holding &amp; West bypass diversion</a:t>
            </a:r>
          </a:p>
        </p:txBody>
      </p:sp>
      <p:sp>
        <p:nvSpPr>
          <p:cNvPr id="8" name="Rounded Rectangle 7"/>
          <p:cNvSpPr/>
          <p:nvPr/>
        </p:nvSpPr>
        <p:spPr>
          <a:xfrm>
            <a:off x="6190488" y="1737360"/>
            <a:ext cx="5266944" cy="205740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865376"/>
            <a:ext cx="4974336" cy="1801368"/>
          </a:xfrm>
          <a:prstGeom prst="rect">
            <a:avLst/>
          </a:prstGeom>
          <a:noFill/>
        </p:spPr>
        <p:txBody>
          <a:bodyPr wrap="square">
            <a:spAutoFit/>
          </a:bodyPr>
          <a:lstStyle/>
          <a:p>
            <a:pPr>
              <a:spcAft>
                <a:spcPts val="200"/>
              </a:spcAft>
              <a:defRPr sz="900" b="1">
                <a:solidFill>
                  <a:srgbClr val="FBBF24"/>
                </a:solidFill>
                <a:latin typeface="Consolas"/>
              </a:defRPr>
            </a:pPr>
            <a:r>
              <a:t>HIGH-DENSITY TRANSIT HUB</a:t>
            </a:r>
          </a:p>
          <a:p>
            <a:pPr>
              <a:spcAft>
                <a:spcPts val="400"/>
              </a:spcAft>
              <a:defRPr sz="1200" b="1">
                <a:solidFill>
                  <a:srgbClr val="F8FAFC"/>
                </a:solidFill>
                <a:latin typeface="Segoe UI"/>
              </a:defRPr>
            </a:pPr>
            <a:r>
              <a:t>Bhopal Junction Railway Station</a:t>
            </a:r>
          </a:p>
          <a:p>
            <a:pPr>
              <a:spcAft>
                <a:spcPts val="200"/>
              </a:spcAft>
              <a:defRPr sz="900">
                <a:solidFill>
                  <a:srgbClr val="94A3B8"/>
                </a:solidFill>
                <a:latin typeface="Segoe UI"/>
              </a:defRPr>
            </a:pPr>
            <a:r>
              <a:t>• Architecture: Multi-platform concourse with Foot Over Bridges (FOB)</a:t>
            </a:r>
          </a:p>
          <a:p>
            <a:pPr>
              <a:spcAft>
                <a:spcPts val="200"/>
              </a:spcAft>
              <a:defRPr sz="900">
                <a:solidFill>
                  <a:srgbClr val="94A3B8"/>
                </a:solidFill>
                <a:latin typeface="Segoe UI"/>
              </a:defRPr>
            </a:pPr>
            <a:r>
              <a:t>• Key Challenge: Simultaneous train arrivals causing bridge stampede risk</a:t>
            </a:r>
          </a:p>
          <a:p>
            <a:pPr>
              <a:spcAft>
                <a:spcPts val="200"/>
              </a:spcAft>
              <a:defRPr sz="900">
                <a:solidFill>
                  <a:srgbClr val="94A3B8"/>
                </a:solidFill>
                <a:latin typeface="Segoe UI"/>
              </a:defRPr>
            </a:pPr>
            <a:r>
              <a:t>• Core Mitigation: Staggered platform turnstiles &amp; holding concourse</a:t>
            </a:r>
          </a:p>
        </p:txBody>
      </p:sp>
      <p:sp>
        <p:nvSpPr>
          <p:cNvPr id="10" name="Rounded Rectangle 9"/>
          <p:cNvSpPr/>
          <p:nvPr/>
        </p:nvSpPr>
        <p:spPr>
          <a:xfrm>
            <a:off x="731520" y="3977640"/>
            <a:ext cx="5266944" cy="205740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4105656"/>
            <a:ext cx="4974336" cy="1801368"/>
          </a:xfrm>
          <a:prstGeom prst="rect">
            <a:avLst/>
          </a:prstGeom>
          <a:noFill/>
        </p:spPr>
        <p:txBody>
          <a:bodyPr wrap="square">
            <a:spAutoFit/>
          </a:bodyPr>
          <a:lstStyle/>
          <a:p>
            <a:pPr>
              <a:spcAft>
                <a:spcPts val="200"/>
              </a:spcAft>
              <a:defRPr sz="900" b="1">
                <a:solidFill>
                  <a:srgbClr val="34D399"/>
                </a:solidFill>
                <a:latin typeface="Consolas"/>
              </a:defRPr>
            </a:pPr>
            <a:r>
              <a:t>MEGA SPORTS &amp; ARENA COMPLEX</a:t>
            </a:r>
          </a:p>
          <a:p>
            <a:pPr>
              <a:spcAft>
                <a:spcPts val="400"/>
              </a:spcAft>
              <a:defRPr sz="1200" b="1">
                <a:solidFill>
                  <a:srgbClr val="F8FAFC"/>
                </a:solidFill>
                <a:latin typeface="Segoe UI"/>
              </a:defRPr>
            </a:pPr>
            <a:r>
              <a:t>Grand Stadium Arena</a:t>
            </a:r>
          </a:p>
          <a:p>
            <a:pPr>
              <a:spcAft>
                <a:spcPts val="200"/>
              </a:spcAft>
              <a:defRPr sz="900">
                <a:solidFill>
                  <a:srgbClr val="94A3B8"/>
                </a:solidFill>
                <a:latin typeface="Segoe UI"/>
              </a:defRPr>
            </a:pPr>
            <a:r>
              <a:t>• Architecture: Tiered spectator seating zones &amp; radial turnstiles</a:t>
            </a:r>
          </a:p>
          <a:p>
            <a:pPr>
              <a:spcAft>
                <a:spcPts val="200"/>
              </a:spcAft>
              <a:defRPr sz="900">
                <a:solidFill>
                  <a:srgbClr val="94A3B8"/>
                </a:solidFill>
                <a:latin typeface="Segoe UI"/>
              </a:defRPr>
            </a:pPr>
            <a:r>
              <a:t>• Key Challenge: Post-event sudden egress rush into exit gates</a:t>
            </a:r>
          </a:p>
          <a:p>
            <a:pPr>
              <a:spcAft>
                <a:spcPts val="200"/>
              </a:spcAft>
              <a:defRPr sz="900">
                <a:solidFill>
                  <a:srgbClr val="94A3B8"/>
                </a:solidFill>
                <a:latin typeface="Segoe UI"/>
              </a:defRPr>
            </a:pPr>
            <a:r>
              <a:t>• Core Mitigation: Multi-gate load balancing &amp; auxiliary turnstile activation</a:t>
            </a:r>
          </a:p>
        </p:txBody>
      </p:sp>
      <p:sp>
        <p:nvSpPr>
          <p:cNvPr id="12" name="Rounded Rectangle 11"/>
          <p:cNvSpPr/>
          <p:nvPr/>
        </p:nvSpPr>
        <p:spPr>
          <a:xfrm>
            <a:off x="6190488" y="3977640"/>
            <a:ext cx="5266944" cy="205740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4105656"/>
            <a:ext cx="4974336" cy="1801368"/>
          </a:xfrm>
          <a:prstGeom prst="rect">
            <a:avLst/>
          </a:prstGeom>
          <a:noFill/>
        </p:spPr>
        <p:txBody>
          <a:bodyPr wrap="square">
            <a:spAutoFit/>
          </a:bodyPr>
          <a:lstStyle/>
          <a:p>
            <a:pPr>
              <a:spcAft>
                <a:spcPts val="200"/>
              </a:spcAft>
              <a:defRPr sz="900" b="1">
                <a:solidFill>
                  <a:srgbClr val="38BDF8"/>
                </a:solidFill>
                <a:latin typeface="Consolas"/>
              </a:defRPr>
            </a:pPr>
            <a:r>
              <a:t>OPEN-GROUND CULTURAL FESTIVAL</a:t>
            </a:r>
          </a:p>
          <a:p>
            <a:pPr>
              <a:spcAft>
                <a:spcPts val="400"/>
              </a:spcAft>
              <a:defRPr sz="1200" b="1">
                <a:solidFill>
                  <a:srgbClr val="F8FAFC"/>
                </a:solidFill>
                <a:latin typeface="Segoe UI"/>
              </a:defRPr>
            </a:pPr>
            <a:r>
              <a:t>Horizon Open-Air Cultural Festival</a:t>
            </a:r>
          </a:p>
          <a:p>
            <a:pPr>
              <a:spcAft>
                <a:spcPts val="200"/>
              </a:spcAft>
              <a:defRPr sz="900">
                <a:solidFill>
                  <a:srgbClr val="94A3B8"/>
                </a:solidFill>
                <a:latin typeface="Segoe UI"/>
              </a:defRPr>
            </a:pPr>
            <a:r>
              <a:t>• Architecture: Expansive open ground with main stage perimeter</a:t>
            </a:r>
          </a:p>
          <a:p>
            <a:pPr>
              <a:spcAft>
                <a:spcPts val="200"/>
              </a:spcAft>
              <a:defRPr sz="900">
                <a:solidFill>
                  <a:srgbClr val="94A3B8"/>
                </a:solidFill>
                <a:latin typeface="Segoe UI"/>
              </a:defRPr>
            </a:pPr>
            <a:r>
              <a:t>• Key Challenge: Stage-front surge compression &amp; perimeter choke</a:t>
            </a:r>
          </a:p>
          <a:p>
            <a:pPr>
              <a:spcAft>
                <a:spcPts val="200"/>
              </a:spcAft>
              <a:defRPr sz="900">
                <a:solidFill>
                  <a:srgbClr val="94A3B8"/>
                </a:solidFill>
                <a:latin typeface="Segoe UI"/>
              </a:defRPr>
            </a:pPr>
            <a:r>
              <a:t>• Core Mitigation: Inflow lane offset regulation &amp; perimeter marshal lines</a:t>
            </a:r>
          </a:p>
        </p:txBody>
      </p:sp>
      <p:sp>
        <p:nvSpPr>
          <p:cNvPr id="14" name="Rounded Rectangle 13"/>
          <p:cNvSpPr/>
          <p:nvPr/>
        </p:nvSpPr>
        <p:spPr>
          <a:xfrm>
            <a:off x="731520" y="5989320"/>
            <a:ext cx="10728655" cy="502920"/>
          </a:xfrm>
          <a:prstGeom prst="roundRect">
            <a:avLst/>
          </a:prstGeom>
          <a:solidFill>
            <a:srgbClr val="101724"/>
          </a:solidFill>
          <a:ln w="12700">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6016752"/>
            <a:ext cx="10332720" cy="457200"/>
          </a:xfrm>
          <a:prstGeom prst="rect">
            <a:avLst/>
          </a:prstGeom>
          <a:noFill/>
        </p:spPr>
        <p:txBody>
          <a:bodyPr wrap="square">
            <a:spAutoFit/>
          </a:bodyPr>
          <a:lstStyle/>
          <a:p>
            <a:pPr>
              <a:defRPr sz="900">
                <a:solidFill>
                  <a:srgbClr val="38BDF8"/>
                </a:solidFill>
                <a:latin typeface="Segoe UI"/>
              </a:defRPr>
            </a:pPr>
            <a:r>
              <a:t>PARAMETRIC MODULARITY: The core Helbing Social Force simulation engine remains 100% constant across all environments. Adapting to any new venue requires only a declarative JSON configuration specifying zone coordinates, gate flow limits, and waypoint paths.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MATURITY MATRIX | TECHNICAL HONESTY</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Current Working Prototype vs Future Scope</a:t>
            </a:r>
          </a:p>
          <a:p>
            <a:pPr>
              <a:defRPr sz="1100">
                <a:solidFill>
                  <a:srgbClr val="94A3B8"/>
                </a:solidFill>
                <a:latin typeface="Segoe UI"/>
              </a:defRPr>
            </a:pPr>
            <a:r>
              <a:t>Full technical transparency: What is running today vs our engineering roadmap.</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266944" cy="438912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4901184" cy="4059936"/>
          </a:xfrm>
          <a:prstGeom prst="rect">
            <a:avLst/>
          </a:prstGeom>
          <a:noFill/>
        </p:spPr>
        <p:txBody>
          <a:bodyPr wrap="square">
            <a:spAutoFit/>
          </a:bodyPr>
          <a:lstStyle/>
          <a:p>
            <a:pPr>
              <a:spcAft>
                <a:spcPts val="800"/>
              </a:spcAft>
              <a:defRPr sz="1100" b="1">
                <a:solidFill>
                  <a:srgbClr val="34D399"/>
                </a:solidFill>
                <a:latin typeface="Consolas"/>
              </a:defRPr>
            </a:pPr>
            <a:r>
              <a:t>CURRENT WORKING PROTOTYPE (VERIFIED)</a:t>
            </a:r>
          </a:p>
          <a:p>
            <a:pPr>
              <a:spcAft>
                <a:spcPts val="300"/>
              </a:spcAft>
            </a:pPr>
            <a:r>
              <a:rPr b="1" sz="950">
                <a:solidFill>
                  <a:srgbClr val="F8FAFC"/>
                </a:solidFill>
              </a:rPr>
              <a:t>✓ Interactive Tactical UI: </a:t>
            </a:r>
            <a:r>
              <a:rPr sz="900">
                <a:solidFill>
                  <a:srgbClr val="94A3B8"/>
                </a:solidFill>
              </a:rPr>
              <a:t>Complete React 19 + TypeScript + Vite command platform.</a:t>
            </a:r>
          </a:p>
          <a:p>
            <a:pPr>
              <a:spcAft>
                <a:spcPts val="300"/>
              </a:spcAft>
            </a:pPr>
            <a:r>
              <a:rPr b="1" sz="950">
                <a:solidFill>
                  <a:srgbClr val="F8FAFC"/>
                </a:solidFill>
              </a:rPr>
              <a:t>✓ 60 FPS Digital Twin Canvas: </a:t>
            </a:r>
            <a:r>
              <a:rPr sz="900">
                <a:solidFill>
                  <a:srgbClr val="94A3B8"/>
                </a:solidFill>
              </a:rPr>
              <a:t>HTML5 Canvas rendering 320+ agents with social force repulsion.</a:t>
            </a:r>
          </a:p>
          <a:p>
            <a:pPr>
              <a:spcAft>
                <a:spcPts val="300"/>
              </a:spcAft>
            </a:pPr>
            <a:r>
              <a:rPr b="1" sz="950">
                <a:solidFill>
                  <a:srgbClr val="F8FAFC"/>
                </a:solidFill>
              </a:rPr>
              <a:t>✓ Parametric Venue Models: </a:t>
            </a:r>
            <a:r>
              <a:rPr sz="900">
                <a:solidFill>
                  <a:srgbClr val="94A3B8"/>
                </a:solidFill>
              </a:rPr>
              <a:t>4 Fully configured venue environments with custom spatial geometries.</a:t>
            </a:r>
          </a:p>
          <a:p>
            <a:pPr>
              <a:spcAft>
                <a:spcPts val="300"/>
              </a:spcAft>
            </a:pPr>
            <a:r>
              <a:rPr b="1" sz="950">
                <a:solidFill>
                  <a:srgbClr val="F8FAFC"/>
                </a:solidFill>
              </a:rPr>
              <a:t>✓ What-If Simulation Sandbox: </a:t>
            </a:r>
            <a:r>
              <a:rPr sz="900">
                <a:solidFill>
                  <a:srgbClr val="94A3B8"/>
                </a:solidFill>
              </a:rPr>
              <a:t>Live gate closing, bypass rerouting &amp; marshal dispatch controls.</a:t>
            </a:r>
          </a:p>
          <a:p>
            <a:pPr>
              <a:spcAft>
                <a:spcPts val="300"/>
              </a:spcAft>
            </a:pPr>
            <a:r>
              <a:rPr b="1" sz="950">
                <a:solidFill>
                  <a:srgbClr val="F8FAFC"/>
                </a:solidFill>
              </a:rPr>
              <a:t>✓ Dual-Engine Comparator: </a:t>
            </a:r>
            <a:r>
              <a:rPr sz="900">
                <a:solidFill>
                  <a:srgbClr val="94A3B8"/>
                </a:solidFill>
              </a:rPr>
              <a:t>Simultaneous Before vs After engine running side-by-side with KPI delta.</a:t>
            </a:r>
          </a:p>
          <a:p>
            <a:pPr>
              <a:spcAft>
                <a:spcPts val="300"/>
              </a:spcAft>
            </a:pPr>
            <a:r>
              <a:rPr b="1" sz="950">
                <a:solidFill>
                  <a:srgbClr val="F8FAFC"/>
                </a:solidFill>
              </a:rPr>
              <a:t>✓ Predictive Horizons Panel: </a:t>
            </a:r>
            <a:r>
              <a:rPr sz="900">
                <a:solidFill>
                  <a:srgbClr val="94A3B8"/>
                </a:solidFill>
              </a:rPr>
              <a:t>Recharts multi-horizon density projection curves (+2m to +15m).</a:t>
            </a:r>
          </a:p>
          <a:p>
            <a:pPr>
              <a:spcAft>
                <a:spcPts val="300"/>
              </a:spcAft>
            </a:pPr>
            <a:r>
              <a:rPr b="1" sz="950">
                <a:solidFill>
                  <a:srgbClr val="F8FAFC"/>
                </a:solidFill>
              </a:rPr>
              <a:t>✓ Rule-Based Incident Alerts: </a:t>
            </a:r>
            <a:r>
              <a:rPr sz="900">
                <a:solidFill>
                  <a:srgbClr val="94A3B8"/>
                </a:solidFill>
              </a:rPr>
              <a:t>Dynamic capacity breach banners with automated advisory generation.</a:t>
            </a:r>
          </a:p>
          <a:p>
            <a:pPr>
              <a:spcAft>
                <a:spcPts val="300"/>
              </a:spcAft>
            </a:pPr>
            <a:r>
              <a:rPr b="1" sz="950">
                <a:solidFill>
                  <a:srgbClr val="F8FAFC"/>
                </a:solidFill>
              </a:rPr>
              <a:t>✓ Zero-Latency Architecture: </a:t>
            </a:r>
            <a:r>
              <a:rPr sz="900">
                <a:solidFill>
                  <a:srgbClr val="94A3B8"/>
                </a:solidFill>
              </a:rPr>
              <a:t>In-memory simulation state ensuring instant &lt;50ms policy recalculation.</a:t>
            </a:r>
          </a:p>
        </p:txBody>
      </p:sp>
      <p:sp>
        <p:nvSpPr>
          <p:cNvPr id="8" name="Rounded Rectangle 7"/>
          <p:cNvSpPr/>
          <p:nvPr/>
        </p:nvSpPr>
        <p:spPr>
          <a:xfrm>
            <a:off x="6190488" y="1737360"/>
            <a:ext cx="5266944" cy="4389120"/>
          </a:xfrm>
          <a:prstGeom prst="roundRect">
            <a:avLst/>
          </a:prstGeom>
          <a:solidFill>
            <a:srgbClr val="1017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1901952"/>
            <a:ext cx="4901184" cy="4059936"/>
          </a:xfrm>
          <a:prstGeom prst="rect">
            <a:avLst/>
          </a:prstGeom>
          <a:noFill/>
        </p:spPr>
        <p:txBody>
          <a:bodyPr wrap="square">
            <a:spAutoFit/>
          </a:bodyPr>
          <a:lstStyle/>
          <a:p>
            <a:pPr>
              <a:spcAft>
                <a:spcPts val="800"/>
              </a:spcAft>
              <a:defRPr sz="1100" b="1">
                <a:solidFill>
                  <a:srgbClr val="FBBF24"/>
                </a:solidFill>
                <a:latin typeface="Consolas"/>
              </a:defRPr>
            </a:pPr>
            <a:r>
              <a:t>FUTURE ENGINEERING ROADMAP (PHASE 2 &amp; 3)</a:t>
            </a:r>
          </a:p>
          <a:p>
            <a:pPr>
              <a:spcAft>
                <a:spcPts val="300"/>
              </a:spcAft>
            </a:pPr>
            <a:r>
              <a:rPr b="1" sz="950">
                <a:solidFill>
                  <a:srgbClr val="F8FAFC"/>
                </a:solidFill>
              </a:rPr>
              <a:t>○ Edge CCTV Video Analytics: </a:t>
            </a:r>
            <a:r>
              <a:rPr sz="900">
                <a:solidFill>
                  <a:srgbClr val="94A3B8"/>
                </a:solidFill>
              </a:rPr>
              <a:t>Real-time head detection &amp; tracking via fine-tuned YOLOv8 / ByteTrack.</a:t>
            </a:r>
          </a:p>
          <a:p>
            <a:pPr>
              <a:spcAft>
                <a:spcPts val="300"/>
              </a:spcAft>
            </a:pPr>
            <a:r>
              <a:rPr b="1" sz="950">
                <a:solidFill>
                  <a:srgbClr val="F8FAFC"/>
                </a:solidFill>
              </a:rPr>
              <a:t>○ Physical IoT Turnstile Ingestion: </a:t>
            </a:r>
            <a:r>
              <a:rPr sz="900">
                <a:solidFill>
                  <a:srgbClr val="94A3B8"/>
                </a:solidFill>
              </a:rPr>
              <a:t>Hardware integration with optical turnstiles and LiDAR occupancy counters.</a:t>
            </a:r>
          </a:p>
          <a:p>
            <a:pPr>
              <a:spcAft>
                <a:spcPts val="300"/>
              </a:spcAft>
            </a:pPr>
            <a:r>
              <a:rPr b="1" sz="950">
                <a:solidFill>
                  <a:srgbClr val="F8FAFC"/>
                </a:solidFill>
              </a:rPr>
              <a:t>○ Deep Learning Time-Series Models: </a:t>
            </a:r>
            <a:r>
              <a:rPr sz="900">
                <a:solidFill>
                  <a:srgbClr val="94A3B8"/>
                </a:solidFill>
              </a:rPr>
              <a:t>LSTM / Transformer neural networks trained on multi-year festival ingress datasets.</a:t>
            </a:r>
          </a:p>
          <a:p>
            <a:pPr>
              <a:spcAft>
                <a:spcPts val="300"/>
              </a:spcAft>
            </a:pPr>
            <a:r>
              <a:rPr b="1" sz="950">
                <a:solidFill>
                  <a:srgbClr val="F8FAFC"/>
                </a:solidFill>
              </a:rPr>
              <a:t>○ Physical Barrier Actuation: </a:t>
            </a:r>
            <a:r>
              <a:rPr sz="900">
                <a:solidFill>
                  <a:srgbClr val="94A3B8"/>
                </a:solidFill>
              </a:rPr>
              <a:t>Automated pneumatic gate locking &amp; dynamic LED wayfinding signage.</a:t>
            </a:r>
          </a:p>
          <a:p>
            <a:pPr>
              <a:spcAft>
                <a:spcPts val="300"/>
              </a:spcAft>
            </a:pPr>
            <a:r>
              <a:rPr b="1" sz="950">
                <a:solidFill>
                  <a:srgbClr val="F8FAFC"/>
                </a:solidFill>
              </a:rPr>
              <a:t>○ Multi-Agency Emergency API: </a:t>
            </a:r>
            <a:r>
              <a:rPr sz="900">
                <a:solidFill>
                  <a:srgbClr val="94A3B8"/>
                </a:solidFill>
              </a:rPr>
              <a:t>Unified dispatch integration for Police Command, NDRF, and Municipal Fire.</a:t>
            </a:r>
          </a:p>
          <a:p>
            <a:pPr>
              <a:spcAft>
                <a:spcPts val="300"/>
              </a:spcAft>
            </a:pPr>
            <a:r>
              <a:rPr b="1" sz="950">
                <a:solidFill>
                  <a:srgbClr val="F8FAFC"/>
                </a:solidFill>
              </a:rPr>
              <a:t>○ 3D Spatial Twin (WebGL): </a:t>
            </a:r>
            <a:r>
              <a:rPr sz="900">
                <a:solidFill>
                  <a:srgbClr val="94A3B8"/>
                </a:solidFill>
              </a:rPr>
              <a:t>Full isometric 3D venue rendering with volumetric density lighting.</a:t>
            </a:r>
          </a:p>
          <a:p>
            <a:br/>
            <a:pPr>
              <a:defRPr sz="850" i="1">
                <a:solidFill>
                  <a:srgbClr val="38BDF8"/>
                </a:solidFill>
                <a:latin typeface="Segoe UI"/>
              </a:defRPr>
            </a:pPr>
            <a:r>
              <a:t>TRANSPARENCY COMMITMENT: We do not claim hardware deployments or live government APIs that are not yet built. We present a working, software-first simulation platform ready for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OPERATIONAL IMPACT | USE CASE DEPLOYMENT</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Practical Impact &amp; Real-World Use Cases</a:t>
            </a:r>
          </a:p>
          <a:p>
            <a:pPr>
              <a:defRPr sz="1100">
                <a:solidFill>
                  <a:srgbClr val="94A3B8"/>
                </a:solidFill>
                <a:latin typeface="Segoe UI"/>
              </a:defRPr>
            </a:pPr>
            <a:r>
              <a:t>Transforming crowd management from emergency reaction to proactive mitigation.</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2542032" cy="201168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847088"/>
            <a:ext cx="2322576" cy="1792224"/>
          </a:xfrm>
          <a:prstGeom prst="rect">
            <a:avLst/>
          </a:prstGeom>
          <a:noFill/>
        </p:spPr>
        <p:txBody>
          <a:bodyPr wrap="square">
            <a:spAutoFit/>
          </a:bodyPr>
          <a:lstStyle/>
          <a:p>
            <a:pPr>
              <a:spcAft>
                <a:spcPts val="200"/>
              </a:spcAft>
              <a:defRPr sz="800" b="1">
                <a:solidFill>
                  <a:srgbClr val="38BDF8"/>
                </a:solidFill>
                <a:latin typeface="Consolas"/>
              </a:defRPr>
            </a:pPr>
            <a:r>
              <a:t>PILGRIMAGE &amp; HERITAGE TRUSTS</a:t>
            </a:r>
          </a:p>
          <a:p>
            <a:pPr>
              <a:spcAft>
                <a:spcPts val="400"/>
              </a:spcAft>
              <a:defRPr sz="1000" b="1">
                <a:solidFill>
                  <a:srgbClr val="F8FAFC"/>
                </a:solidFill>
                <a:latin typeface="Segoe UI"/>
              </a:defRPr>
            </a:pPr>
            <a:r>
              <a:t>Shri Kashi Vishwanath, Tirumala Tirupati, Kumbh Mela Authority</a:t>
            </a:r>
          </a:p>
          <a:p>
            <a:pPr>
              <a:spcAft>
                <a:spcPts val="200"/>
              </a:spcAft>
              <a:defRPr sz="850">
                <a:solidFill>
                  <a:srgbClr val="94A3B8"/>
                </a:solidFill>
                <a:latin typeface="Segoe UI"/>
              </a:defRPr>
            </a:pPr>
            <a:r>
              <a:t>• Proactively manages religious rush days (Mahashivratri, Shravan)</a:t>
            </a:r>
          </a:p>
          <a:p>
            <a:pPr>
              <a:spcAft>
                <a:spcPts val="200"/>
              </a:spcAft>
              <a:defRPr sz="850">
                <a:solidFill>
                  <a:srgbClr val="94A3B8"/>
                </a:solidFill>
                <a:latin typeface="Segoe UI"/>
              </a:defRPr>
            </a:pPr>
            <a:r>
              <a:t>• Protects sacred sanctums from structural crush pressure</a:t>
            </a:r>
          </a:p>
        </p:txBody>
      </p:sp>
      <p:sp>
        <p:nvSpPr>
          <p:cNvPr id="8" name="Rounded Rectangle 7"/>
          <p:cNvSpPr/>
          <p:nvPr/>
        </p:nvSpPr>
        <p:spPr>
          <a:xfrm>
            <a:off x="3456432" y="1737360"/>
            <a:ext cx="2542032" cy="2011680"/>
          </a:xfrm>
          <a:prstGeom prst="roundRect">
            <a:avLst/>
          </a:prstGeom>
          <a:solidFill>
            <a:srgbClr val="141C2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847088"/>
            <a:ext cx="2322576" cy="1792224"/>
          </a:xfrm>
          <a:prstGeom prst="rect">
            <a:avLst/>
          </a:prstGeom>
          <a:noFill/>
        </p:spPr>
        <p:txBody>
          <a:bodyPr wrap="square">
            <a:spAutoFit/>
          </a:bodyPr>
          <a:lstStyle/>
          <a:p>
            <a:pPr>
              <a:spcAft>
                <a:spcPts val="200"/>
              </a:spcAft>
              <a:defRPr sz="800" b="1">
                <a:solidFill>
                  <a:srgbClr val="FBBF24"/>
                </a:solidFill>
                <a:latin typeface="Consolas"/>
              </a:defRPr>
            </a:pPr>
            <a:r>
              <a:t>TRANSIT &amp; RAILWAY OPERATORS</a:t>
            </a:r>
          </a:p>
          <a:p>
            <a:pPr>
              <a:spcAft>
                <a:spcPts val="400"/>
              </a:spcAft>
              <a:defRPr sz="1000" b="1">
                <a:solidFill>
                  <a:srgbClr val="F8FAFC"/>
                </a:solidFill>
                <a:latin typeface="Segoe UI"/>
              </a:defRPr>
            </a:pPr>
            <a:r>
              <a:t>Indian Railways, Metro Rail Corporations</a:t>
            </a:r>
          </a:p>
          <a:p>
            <a:pPr>
              <a:spcAft>
                <a:spcPts val="200"/>
              </a:spcAft>
              <a:defRPr sz="850">
                <a:solidFill>
                  <a:srgbClr val="94A3B8"/>
                </a:solidFill>
                <a:latin typeface="Segoe UI"/>
              </a:defRPr>
            </a:pPr>
            <a:r>
              <a:t>• Prevents fatal stampedes on Foot Over Bridges (FOBs)</a:t>
            </a:r>
          </a:p>
          <a:p>
            <a:pPr>
              <a:spcAft>
                <a:spcPts val="200"/>
              </a:spcAft>
              <a:defRPr sz="850">
                <a:solidFill>
                  <a:srgbClr val="94A3B8"/>
                </a:solidFill>
                <a:latin typeface="Segoe UI"/>
              </a:defRPr>
            </a:pPr>
            <a:r>
              <a:t>• Coordinates passenger discharge during delayed train arrivals</a:t>
            </a:r>
          </a:p>
        </p:txBody>
      </p:sp>
      <p:sp>
        <p:nvSpPr>
          <p:cNvPr id="10" name="Rounded Rectangle 9"/>
          <p:cNvSpPr/>
          <p:nvPr/>
        </p:nvSpPr>
        <p:spPr>
          <a:xfrm>
            <a:off x="6181344" y="1737360"/>
            <a:ext cx="2542032" cy="2011680"/>
          </a:xfrm>
          <a:prstGeom prst="roundRect">
            <a:avLst/>
          </a:prstGeom>
          <a:solidFill>
            <a:srgbClr val="141C2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847088"/>
            <a:ext cx="2322576" cy="1792224"/>
          </a:xfrm>
          <a:prstGeom prst="rect">
            <a:avLst/>
          </a:prstGeom>
          <a:noFill/>
        </p:spPr>
        <p:txBody>
          <a:bodyPr wrap="square">
            <a:spAutoFit/>
          </a:bodyPr>
          <a:lstStyle/>
          <a:p>
            <a:pPr>
              <a:spcAft>
                <a:spcPts val="200"/>
              </a:spcAft>
              <a:defRPr sz="800" b="1">
                <a:solidFill>
                  <a:srgbClr val="34D399"/>
                </a:solidFill>
                <a:latin typeface="Consolas"/>
              </a:defRPr>
            </a:pPr>
            <a:r>
              <a:t>EVENT &amp; STADIUM ORGANIZERS</a:t>
            </a:r>
          </a:p>
          <a:p>
            <a:pPr>
              <a:spcAft>
                <a:spcPts val="400"/>
              </a:spcAft>
              <a:defRPr sz="1000" b="1">
                <a:solidFill>
                  <a:srgbClr val="F8FAFC"/>
                </a:solidFill>
                <a:latin typeface="Segoe UI"/>
              </a:defRPr>
            </a:pPr>
            <a:r>
              <a:t>Sports Arenas (IPL), Mega Concerts, Exhibitions</a:t>
            </a:r>
          </a:p>
          <a:p>
            <a:pPr>
              <a:spcAft>
                <a:spcPts val="200"/>
              </a:spcAft>
              <a:defRPr sz="850">
                <a:solidFill>
                  <a:srgbClr val="94A3B8"/>
                </a:solidFill>
                <a:latin typeface="Segoe UI"/>
              </a:defRPr>
            </a:pPr>
            <a:r>
              <a:t>• Eliminates bottleneck blockades at entry turnstiles</a:t>
            </a:r>
          </a:p>
          <a:p>
            <a:pPr>
              <a:spcAft>
                <a:spcPts val="200"/>
              </a:spcAft>
              <a:defRPr sz="850">
                <a:solidFill>
                  <a:srgbClr val="94A3B8"/>
                </a:solidFill>
                <a:latin typeface="Segoe UI"/>
              </a:defRPr>
            </a:pPr>
            <a:r>
              <a:t>• Ensures safe radial egress during sudden post-event exits</a:t>
            </a:r>
          </a:p>
        </p:txBody>
      </p:sp>
      <p:sp>
        <p:nvSpPr>
          <p:cNvPr id="12" name="Rounded Rectangle 11"/>
          <p:cNvSpPr/>
          <p:nvPr/>
        </p:nvSpPr>
        <p:spPr>
          <a:xfrm>
            <a:off x="8906256" y="1737360"/>
            <a:ext cx="2542032" cy="201168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15984" y="1847088"/>
            <a:ext cx="2322576" cy="1792224"/>
          </a:xfrm>
          <a:prstGeom prst="rect">
            <a:avLst/>
          </a:prstGeom>
          <a:noFill/>
        </p:spPr>
        <p:txBody>
          <a:bodyPr wrap="square">
            <a:spAutoFit/>
          </a:bodyPr>
          <a:lstStyle/>
          <a:p>
            <a:pPr>
              <a:spcAft>
                <a:spcPts val="200"/>
              </a:spcAft>
              <a:defRPr sz="800" b="1">
                <a:solidFill>
                  <a:srgbClr val="38BDF8"/>
                </a:solidFill>
                <a:latin typeface="Consolas"/>
              </a:defRPr>
            </a:pPr>
            <a:r>
              <a:t>POLICE &amp; DISASTER MANAGEMENT</a:t>
            </a:r>
          </a:p>
          <a:p>
            <a:pPr>
              <a:spcAft>
                <a:spcPts val="400"/>
              </a:spcAft>
              <a:defRPr sz="1000" b="1">
                <a:solidFill>
                  <a:srgbClr val="F8FAFC"/>
                </a:solidFill>
                <a:latin typeface="Segoe UI"/>
              </a:defRPr>
            </a:pPr>
            <a:r>
              <a:t>State Police Control Rooms, NDMA, SDRF Battalions</a:t>
            </a:r>
          </a:p>
          <a:p>
            <a:pPr>
              <a:spcAft>
                <a:spcPts val="200"/>
              </a:spcAft>
              <a:defRPr sz="850">
                <a:solidFill>
                  <a:srgbClr val="94A3B8"/>
                </a:solidFill>
                <a:latin typeface="Segoe UI"/>
              </a:defRPr>
            </a:pPr>
            <a:r>
              <a:t>• Provides unified situational awareness across sprawling grounds</a:t>
            </a:r>
          </a:p>
          <a:p>
            <a:pPr>
              <a:spcAft>
                <a:spcPts val="200"/>
              </a:spcAft>
              <a:defRPr sz="850">
                <a:solidFill>
                  <a:srgbClr val="94A3B8"/>
                </a:solidFill>
                <a:latin typeface="Segoe UI"/>
              </a:defRPr>
            </a:pPr>
            <a:r>
              <a:t>• Validates evacuation plans before deploying physical force</a:t>
            </a:r>
          </a:p>
        </p:txBody>
      </p:sp>
      <p:sp>
        <p:nvSpPr>
          <p:cNvPr id="14" name="Rounded Rectangle 13"/>
          <p:cNvSpPr/>
          <p:nvPr/>
        </p:nvSpPr>
        <p:spPr>
          <a:xfrm>
            <a:off x="731520" y="3931920"/>
            <a:ext cx="3447288" cy="2194560"/>
          </a:xfrm>
          <a:prstGeom prst="roundRect">
            <a:avLst/>
          </a:prstGeom>
          <a:solidFill>
            <a:srgbClr val="101724"/>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059936"/>
            <a:ext cx="3191256" cy="1938528"/>
          </a:xfrm>
          <a:prstGeom prst="rect">
            <a:avLst/>
          </a:prstGeom>
          <a:noFill/>
        </p:spPr>
        <p:txBody>
          <a:bodyPr wrap="square">
            <a:spAutoFit/>
          </a:bodyPr>
          <a:lstStyle/>
          <a:p>
            <a:pPr>
              <a:spcAft>
                <a:spcPts val="600"/>
              </a:spcAft>
              <a:defRPr sz="1000" b="1">
                <a:solidFill>
                  <a:srgbClr val="38BDF8"/>
                </a:solidFill>
                <a:latin typeface="Consolas"/>
              </a:defRPr>
            </a:pPr>
            <a:r>
              <a:t>ZERO-RISK INTERVENTION TESTING</a:t>
            </a:r>
          </a:p>
          <a:p>
            <a:pPr>
              <a:spcAft>
                <a:spcPts val="400"/>
              </a:spcAft>
              <a:defRPr sz="900">
                <a:solidFill>
                  <a:srgbClr val="94A3B8"/>
                </a:solidFill>
                <a:latin typeface="Segoe UI"/>
              </a:defRPr>
            </a:pPr>
            <a:r>
              <a:t>• Incident commanders can test aggressive policies (e.g. closing an entire gate corridor) in the digital twin in 2 seconds.</a:t>
            </a:r>
          </a:p>
          <a:p>
            <a:pPr>
              <a:spcAft>
                <a:spcPts val="400"/>
              </a:spcAft>
              <a:defRPr sz="900">
                <a:solidFill>
                  <a:srgbClr val="94A3B8"/>
                </a:solidFill>
                <a:latin typeface="Segoe UI"/>
              </a:defRPr>
            </a:pPr>
            <a:r>
              <a:t>• Validates whether a diversion will clear the bottleneck or inadvertently trigger a deadlier bottleneck downstream.</a:t>
            </a:r>
          </a:p>
        </p:txBody>
      </p:sp>
      <p:sp>
        <p:nvSpPr>
          <p:cNvPr id="16" name="Rounded Rectangle 15"/>
          <p:cNvSpPr/>
          <p:nvPr/>
        </p:nvSpPr>
        <p:spPr>
          <a:xfrm>
            <a:off x="4361688" y="3931920"/>
            <a:ext cx="3447288" cy="2194560"/>
          </a:xfrm>
          <a:prstGeom prst="roundRect">
            <a:avLst/>
          </a:prstGeom>
          <a:solidFill>
            <a:srgbClr val="1017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9704" y="4059936"/>
            <a:ext cx="3191256" cy="1938528"/>
          </a:xfrm>
          <a:prstGeom prst="rect">
            <a:avLst/>
          </a:prstGeom>
          <a:noFill/>
        </p:spPr>
        <p:txBody>
          <a:bodyPr wrap="square">
            <a:spAutoFit/>
          </a:bodyPr>
          <a:lstStyle/>
          <a:p>
            <a:pPr>
              <a:spcAft>
                <a:spcPts val="600"/>
              </a:spcAft>
              <a:defRPr sz="1000" b="1">
                <a:solidFill>
                  <a:srgbClr val="34D399"/>
                </a:solidFill>
                <a:latin typeface="Consolas"/>
              </a:defRPr>
            </a:pPr>
            <a:r>
              <a:t>BALANCED EGRESS DISTRIBUTION</a:t>
            </a:r>
          </a:p>
          <a:p>
            <a:pPr>
              <a:spcAft>
                <a:spcPts val="400"/>
              </a:spcAft>
              <a:defRPr sz="900">
                <a:solidFill>
                  <a:srgbClr val="94A3B8"/>
                </a:solidFill>
                <a:latin typeface="Segoe UI"/>
              </a:defRPr>
            </a:pPr>
            <a:r>
              <a:t>• Crowds naturally follow familiar central pathways, leaving secondary exits underutilized (often at &lt;20% capacity).</a:t>
            </a:r>
          </a:p>
          <a:p>
            <a:pPr>
              <a:spcAft>
                <a:spcPts val="400"/>
              </a:spcAft>
              <a:defRPr sz="900">
                <a:solidFill>
                  <a:srgbClr val="94A3B8"/>
                </a:solidFill>
                <a:latin typeface="Segoe UI"/>
              </a:defRPr>
            </a:pPr>
            <a:r>
              <a:t>• CROWDGUARD X dynamically identifies underutilized bypasses and balances egress loads across all available gates.</a:t>
            </a:r>
          </a:p>
        </p:txBody>
      </p:sp>
      <p:sp>
        <p:nvSpPr>
          <p:cNvPr id="18" name="Rounded Rectangle 17"/>
          <p:cNvSpPr/>
          <p:nvPr/>
        </p:nvSpPr>
        <p:spPr>
          <a:xfrm>
            <a:off x="7991856" y="3931920"/>
            <a:ext cx="3447288" cy="2194560"/>
          </a:xfrm>
          <a:prstGeom prst="roundRect">
            <a:avLst/>
          </a:prstGeom>
          <a:solidFill>
            <a:srgbClr val="1017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2" y="4059936"/>
            <a:ext cx="3191256" cy="1938528"/>
          </a:xfrm>
          <a:prstGeom prst="rect">
            <a:avLst/>
          </a:prstGeom>
          <a:noFill/>
        </p:spPr>
        <p:txBody>
          <a:bodyPr wrap="square">
            <a:spAutoFit/>
          </a:bodyPr>
          <a:lstStyle/>
          <a:p>
            <a:pPr>
              <a:spcAft>
                <a:spcPts val="600"/>
              </a:spcAft>
              <a:defRPr sz="1000" b="1">
                <a:solidFill>
                  <a:srgbClr val="FBBF24"/>
                </a:solidFill>
                <a:latin typeface="Consolas"/>
              </a:defRPr>
            </a:pPr>
            <a:r>
              <a:t>DECISION SUPPORT, NOT REPLACEMENT</a:t>
            </a:r>
          </a:p>
          <a:p>
            <a:pPr>
              <a:spcAft>
                <a:spcPts val="400"/>
              </a:spcAft>
              <a:defRPr sz="900">
                <a:solidFill>
                  <a:srgbClr val="94A3B8"/>
                </a:solidFill>
                <a:latin typeface="Segoe UI"/>
              </a:defRPr>
            </a:pPr>
            <a:r>
              <a:t>• We do not claim our software 'prevents all disasters automatically' without human judgment.</a:t>
            </a:r>
          </a:p>
          <a:p>
            <a:pPr>
              <a:spcAft>
                <a:spcPts val="400"/>
              </a:spcAft>
              <a:defRPr sz="900">
                <a:solidFill>
                  <a:srgbClr val="94A3B8"/>
                </a:solidFill>
                <a:latin typeface="Segoe UI"/>
              </a:defRPr>
            </a:pPr>
            <a:r>
              <a:t>• CROWDGUARD X empowers human commanders with objective data, accelerating life-saving decisions by 10-15 critical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4572000" cy="292608"/>
          </a:xfrm>
          <a:prstGeom prst="roundRect">
            <a:avLst/>
          </a:prstGeom>
          <a:solidFill>
            <a:srgbClr val="0F1E30"/>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8BDF8"/>
                </a:solidFill>
                <a:latin typeface="Consolas"/>
              </a:defRPr>
            </a:pPr>
            <a:r>
              <a:t>LIVE DEMONSTRATION | CONCLUSION</a:t>
            </a:r>
          </a:p>
        </p:txBody>
      </p:sp>
      <p:sp>
        <p:nvSpPr>
          <p:cNvPr id="4" name="TextBox 3"/>
          <p:cNvSpPr txBox="1"/>
          <p:nvPr/>
        </p:nvSpPr>
        <p:spPr>
          <a:xfrm>
            <a:off x="731520" y="658368"/>
            <a:ext cx="10728655" cy="868680"/>
          </a:xfrm>
          <a:prstGeom prst="rect">
            <a:avLst/>
          </a:prstGeom>
          <a:noFill/>
        </p:spPr>
        <p:txBody>
          <a:bodyPr wrap="square" lIns="0" tIns="0" rIns="0" bIns="0">
            <a:spAutoFit/>
          </a:bodyPr>
          <a:lstStyle/>
          <a:p>
            <a:pPr>
              <a:spcAft>
                <a:spcPts val="200"/>
              </a:spcAft>
              <a:defRPr sz="1900" b="1">
                <a:solidFill>
                  <a:srgbClr val="F8FAFC"/>
                </a:solidFill>
                <a:latin typeface="Segoe UI"/>
              </a:defRPr>
            </a:pPr>
            <a:r>
              <a:t>Live Demonstration Playbook &amp; Conclusion</a:t>
            </a:r>
          </a:p>
          <a:p>
            <a:pPr>
              <a:defRPr sz="1100">
                <a:solidFill>
                  <a:srgbClr val="94A3B8"/>
                </a:solidFill>
                <a:latin typeface="Segoe UI"/>
              </a:defRPr>
            </a:pPr>
            <a:r>
              <a:t>Step-by-step 3-minute jury demonstration script.</a:t>
            </a:r>
          </a:p>
        </p:txBody>
      </p:sp>
      <p:sp>
        <p:nvSpPr>
          <p:cNvPr id="5" name="Rectangle 4"/>
          <p:cNvSpPr/>
          <p:nvPr/>
        </p:nvSpPr>
        <p:spPr>
          <a:xfrm>
            <a:off x="731520" y="1572768"/>
            <a:ext cx="10728655" cy="13716"/>
          </a:xfrm>
          <a:prstGeom prst="rect">
            <a:avLst/>
          </a:prstGeom>
          <a:solidFill>
            <a:srgbClr val="2D3A4E"/>
          </a:solidFill>
          <a:ln>
            <a:solidFill>
              <a:srgbClr val="2D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943600" cy="4389120"/>
          </a:xfrm>
          <a:prstGeom prst="roundRect">
            <a:avLst/>
          </a:prstGeom>
          <a:solidFill>
            <a:srgbClr val="141C2C"/>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5577840" cy="4114800"/>
          </a:xfrm>
          <a:prstGeom prst="rect">
            <a:avLst/>
          </a:prstGeom>
          <a:noFill/>
        </p:spPr>
        <p:txBody>
          <a:bodyPr wrap="square">
            <a:spAutoFit/>
          </a:bodyPr>
          <a:lstStyle/>
          <a:p>
            <a:pPr>
              <a:spcAft>
                <a:spcPts val="600"/>
              </a:spcAft>
              <a:defRPr sz="1050" b="1">
                <a:solidFill>
                  <a:srgbClr val="38BDF8"/>
                </a:solidFill>
                <a:latin typeface="Consolas"/>
              </a:defRPr>
            </a:pPr>
            <a:r>
              <a:t>EXACT 6-STEP JURY DEMO PLAYBOOK</a:t>
            </a:r>
          </a:p>
          <a:p>
            <a:pPr>
              <a:spcAft>
                <a:spcPts val="300"/>
              </a:spcAft>
            </a:pPr>
            <a:r>
              <a:rPr b="1" sz="950">
                <a:solidFill>
                  <a:srgbClr val="F8FAFC"/>
                </a:solidFill>
              </a:rPr>
              <a:t>Step 1: Select Venue: </a:t>
            </a:r>
            <a:r>
              <a:rPr sz="900">
                <a:solidFill>
                  <a:srgbClr val="94A3B8"/>
                </a:solidFill>
              </a:rPr>
              <a:t>Open platform, show 'Kashi Vishwanath Temple' scenario loaded with 142k headcount telemetry.</a:t>
            </a:r>
          </a:p>
          <a:p>
            <a:pPr>
              <a:spcAft>
                <a:spcPts val="300"/>
              </a:spcAft>
            </a:pPr>
            <a:r>
              <a:rPr b="1" sz="950">
                <a:solidFill>
                  <a:srgbClr val="F8FAFC"/>
                </a:solidFill>
              </a:rPr>
              <a:t>Step 2: Highlight Choke: </a:t>
            </a:r>
            <a:r>
              <a:rPr sz="900">
                <a:solidFill>
                  <a:srgbClr val="94A3B8"/>
                </a:solidFill>
              </a:rPr>
              <a:t>Direct jury's attention to Zone B (Sanctum) turning Critical Red (88% density, flow down to 0.38 m/s).</a:t>
            </a:r>
          </a:p>
          <a:p>
            <a:pPr>
              <a:spcAft>
                <a:spcPts val="300"/>
              </a:spcAft>
            </a:pPr>
            <a:r>
              <a:rPr b="1" sz="950">
                <a:solidFill>
                  <a:srgbClr val="F8FAFC"/>
                </a:solidFill>
              </a:rPr>
              <a:t>Step 3: Open What-If Sandbox: </a:t>
            </a:r>
            <a:r>
              <a:rPr sz="900">
                <a:solidFill>
                  <a:srgbClr val="94A3B8"/>
                </a:solidFill>
              </a:rPr>
              <a:t>Switch to What-If tab. Point out incoming flow overwhelming Gate G2 (North Gopuram).</a:t>
            </a:r>
          </a:p>
          <a:p>
            <a:pPr>
              <a:spcAft>
                <a:spcPts val="300"/>
              </a:spcAft>
            </a:pPr>
            <a:r>
              <a:rPr b="1" sz="950">
                <a:solidFill>
                  <a:srgbClr val="F8FAFC"/>
                </a:solidFill>
              </a:rPr>
              <a:t>Step 4: Execute Interventions: </a:t>
            </a:r>
            <a:r>
              <a:rPr sz="900">
                <a:solidFill>
                  <a:srgbClr val="94A3B8"/>
                </a:solidFill>
              </a:rPr>
              <a:t>Toggle 'Close Gate G2' + 'Divert to Gate G3' + 'Deploy 12 Marshals in Zone B'.</a:t>
            </a:r>
          </a:p>
          <a:p>
            <a:pPr>
              <a:spcAft>
                <a:spcPts val="300"/>
              </a:spcAft>
            </a:pPr>
            <a:r>
              <a:rPr b="1" sz="950">
                <a:solidFill>
                  <a:srgbClr val="F8FAFC"/>
                </a:solidFill>
              </a:rPr>
              <a:t>Step 5: Validate Before vs After: </a:t>
            </a:r>
            <a:r>
              <a:rPr sz="900">
                <a:solidFill>
                  <a:srgbClr val="94A3B8"/>
                </a:solidFill>
              </a:rPr>
              <a:t>Open Comparative Analyzer: Show live 24% density drop, flow speed jumping to 1.24 m/s, and risk falling to Low.</a:t>
            </a:r>
          </a:p>
          <a:p>
            <a:pPr>
              <a:spcAft>
                <a:spcPts val="300"/>
              </a:spcAft>
            </a:pPr>
            <a:r>
              <a:rPr b="1" sz="950">
                <a:solidFill>
                  <a:srgbClr val="F8FAFC"/>
                </a:solidFill>
              </a:rPr>
              <a:t>Step 6: Demonstrate Scalability: </a:t>
            </a:r>
            <a:r>
              <a:rPr sz="900">
                <a:solidFill>
                  <a:srgbClr val="94A3B8"/>
                </a:solidFill>
              </a:rPr>
              <a:t>Switch venue dropdown to 'Bhopal Junction Railway' to prove the same engine handles transit hubs.</a:t>
            </a:r>
          </a:p>
        </p:txBody>
      </p:sp>
      <p:sp>
        <p:nvSpPr>
          <p:cNvPr id="8" name="Rounded Rectangle 7"/>
          <p:cNvSpPr/>
          <p:nvPr/>
        </p:nvSpPr>
        <p:spPr>
          <a:xfrm>
            <a:off x="6949440" y="1737360"/>
            <a:ext cx="4510735" cy="4389120"/>
          </a:xfrm>
          <a:prstGeom prst="roundRect">
            <a:avLst/>
          </a:prstGeom>
          <a:solidFill>
            <a:srgbClr val="1017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011680"/>
            <a:ext cx="4144975" cy="3840480"/>
          </a:xfrm>
          <a:prstGeom prst="rect">
            <a:avLst/>
          </a:prstGeom>
          <a:noFill/>
        </p:spPr>
        <p:txBody>
          <a:bodyPr wrap="square">
            <a:spAutoFit/>
          </a:bodyPr>
          <a:lstStyle/>
          <a:p>
            <a:pPr>
              <a:spcAft>
                <a:spcPts val="400"/>
              </a:spcAft>
              <a:defRPr sz="3200" b="1">
                <a:solidFill>
                  <a:srgbClr val="F8FAFC"/>
                </a:solidFill>
                <a:latin typeface="Segoe UI"/>
              </a:defRPr>
            </a:pPr>
            <a:r>
              <a:t>CROWDGUARD X</a:t>
            </a:r>
          </a:p>
          <a:p>
            <a:pPr>
              <a:spcAft>
                <a:spcPts val="1400"/>
              </a:spcAft>
              <a:defRPr sz="1300" i="1">
                <a:solidFill>
                  <a:srgbClr val="38BDF8"/>
                </a:solidFill>
                <a:latin typeface="Segoe UI"/>
              </a:defRPr>
            </a:pPr>
            <a:r>
              <a:t>"Let's Simulate the Crowd Before the Crowd Becomes the Crisis."</a:t>
            </a:r>
          </a:p>
          <a:p>
            <a:pPr>
              <a:spcAft>
                <a:spcPts val="200"/>
              </a:spcAft>
              <a:defRPr sz="900" b="1">
                <a:solidFill>
                  <a:srgbClr val="64748B"/>
                </a:solidFill>
                <a:latin typeface="Consolas"/>
              </a:defRPr>
            </a:pPr>
            <a:r>
              <a:t>TAGLINE:</a:t>
            </a:r>
          </a:p>
          <a:p>
            <a:pPr>
              <a:spcAft>
                <a:spcPts val="1400"/>
              </a:spcAft>
              <a:defRPr sz="1600" b="1">
                <a:solidFill>
                  <a:srgbClr val="34D399"/>
                </a:solidFill>
                <a:latin typeface="Segoe UI"/>
              </a:defRPr>
            </a:pPr>
            <a:r>
              <a:t>Predict.  Simulate.  Prevent.</a:t>
            </a:r>
          </a:p>
          <a:p>
            <a:pPr>
              <a:defRPr sz="950">
                <a:solidFill>
                  <a:srgbClr val="94A3B8"/>
                </a:solidFill>
                <a:latin typeface="Consolas"/>
              </a:defRPr>
            </a:pPr>
            <a:r>
              <a:t>SISTec Innovation Hackathon 4.0</a:t>
            </a:r>
            <a:br/>
            <a:r>
              <a:t>Problem Statement: IS-15</a:t>
            </a:r>
            <a:br/>
            <a:r>
              <a:t>Project Track: Software-First Mass Mobility Simulation</a:t>
            </a:r>
            <a:br/>
            <a:r>
              <a:t>Status: Ready for First-Round Jury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